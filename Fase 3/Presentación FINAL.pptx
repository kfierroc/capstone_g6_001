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5143500" cx="9144000"/>
  <p:notesSz cx="6858000" cy="9144000"/>
  <p:embeddedFontLst>
    <p:embeddedFont>
      <p:font typeface="Nunit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2A6C49-D09A-436A-8785-5FEA15467169}">
  <a:tblStyle styleId="{A22A6C49-D09A-436A-8785-5FEA154671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91146979-946A-4DF6-A76B-758DD54EFE7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63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Nunito-bold.fntdata"/><Relationship Id="rId30" Type="http://schemas.openxmlformats.org/officeDocument/2006/relationships/font" Target="fonts/Nunito-regular.fntdata"/><Relationship Id="rId11" Type="http://schemas.openxmlformats.org/officeDocument/2006/relationships/slide" Target="slides/slide5.xml"/><Relationship Id="rId33" Type="http://schemas.openxmlformats.org/officeDocument/2006/relationships/font" Target="fonts/Nunito-boldItalic.fntdata"/><Relationship Id="rId10" Type="http://schemas.openxmlformats.org/officeDocument/2006/relationships/slide" Target="slides/slide4.xml"/><Relationship Id="rId32" Type="http://schemas.openxmlformats.org/officeDocument/2006/relationships/font" Target="fonts/Nunito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722f22f8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722f22f8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d52e0d6aca_0_4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d52e0d6aca_0_4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2e0d6aca_0_4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2e0d6aca_0_4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f6c5cd001_3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ef6c5cd001_3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52e0d6aca_0_4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52e0d6aca_0_4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d52e0d6aca_0_4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d52e0d6aca_0_4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e367742f3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de367742f3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e367742f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e367742f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97262acacc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97262acacc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722f22f86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722f22f86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7262acac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7262acac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97262acac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97262acac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ef6c5cd00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ef6c5cd00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ef6c5cd001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ef6c5cd001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ef6c5cd00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ef6c5cd00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ef6c5cd00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ef6c5cd00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ef6c5cd001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ef6c5cd001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ef6c5cd001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ef6c5cd001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ef6c5cd00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ef6c5cd00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de367742f3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de367742f3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30ded75b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f30ded75b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f6c5cd001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ef6c5cd001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2.png"/><Relationship Id="rId4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image" Target="../media/image9.png"/><Relationship Id="rId6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idx="1" type="subTitle"/>
          </p:nvPr>
        </p:nvSpPr>
        <p:spPr>
          <a:xfrm>
            <a:off x="2704650" y="2667000"/>
            <a:ext cx="3734700" cy="124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Integrantes: 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Kevin Fierro Cantero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José Manuel Montenegro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s" sz="1300">
                <a:latin typeface="Arial"/>
                <a:ea typeface="Arial"/>
                <a:cs typeface="Arial"/>
                <a:sym typeface="Arial"/>
              </a:rPr>
              <a:t>Katherine Céspedes Céspedes</a:t>
            </a:r>
            <a:endParaRPr sz="13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1891350" y="1315125"/>
            <a:ext cx="5361300" cy="86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>
                <a:solidFill>
                  <a:schemeClr val="dk2"/>
                </a:solidFill>
              </a:rPr>
              <a:t>   FireData</a:t>
            </a:r>
            <a:endParaRPr sz="7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3149850" y="433075"/>
            <a:ext cx="28443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Contexto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519000" y="1643725"/>
            <a:ext cx="4053000" cy="28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En situaciones de emergencia como incendios, terremotos o evacuaciones, los equipos de bomberos deben actuar rápidamente para salvar vidas. Sin embargo, en la práctica, muchas de sus decisiones se toman en condiciones de alta incertidumbre.</a:t>
            </a:r>
            <a:endParaRPr b="1" sz="100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Esto provoca que, en muchas ocasiones, deban improvisar en terreno, adaptándose a un escenario desconocido, lo que aumenta los riesgos tanto para los residentes como para los propios voluntarios.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136" name="Google Shape;136;p14"/>
          <p:cNvPicPr preferRelativeResize="0"/>
          <p:nvPr/>
        </p:nvPicPr>
        <p:blipFill rotWithShape="1">
          <a:blip r:embed="rId3">
            <a:alphaModFix/>
          </a:blip>
          <a:srcRect b="10412" l="0" r="0" t="6157"/>
          <a:stretch/>
        </p:blipFill>
        <p:spPr>
          <a:xfrm>
            <a:off x="5183150" y="2899335"/>
            <a:ext cx="3061252" cy="177666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7" name="Google Shape;13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83150" y="1177377"/>
            <a:ext cx="3061240" cy="1721948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5"/>
          <p:cNvSpPr txBox="1"/>
          <p:nvPr>
            <p:ph type="title"/>
          </p:nvPr>
        </p:nvSpPr>
        <p:spPr>
          <a:xfrm>
            <a:off x="3069850" y="679675"/>
            <a:ext cx="28443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Problemática</a:t>
            </a:r>
            <a:r>
              <a:rPr lang="es"/>
              <a:t> 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519000" y="1678950"/>
            <a:ext cx="5230500" cy="28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El principal problema radica en la falta de información crítica y estructurada antes de que los equipos de bomberos lleguen a una emergencia.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Actualmente, no es posible conocer con anticipación cuántas personas se encuentran en una vivienda, si existen personas con condiciones especiales, la presencia de mascotas o incluso la existencia de materiales peligrosos en el lugar.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000"/>
              <a:t>Esto provoca que los equipos de emergencia deban improvisar las decisiones en terreno, afectando negativamente la eficiencia, seguridad y efectividad de la respuesta, generando a su vez demoras críticas en situaciones donde el tiempo es un factor determinante.</a:t>
            </a:r>
            <a:endParaRPr sz="1000"/>
          </a:p>
        </p:txBody>
      </p:sp>
      <p:pic>
        <p:nvPicPr>
          <p:cNvPr id="144" name="Google Shape;144;p15" title="7efbd4631ac4b04d5541a6bef759041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9450" y="1544925"/>
            <a:ext cx="2479651" cy="247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6"/>
          <p:cNvSpPr txBox="1"/>
          <p:nvPr>
            <p:ph type="title"/>
          </p:nvPr>
        </p:nvSpPr>
        <p:spPr>
          <a:xfrm>
            <a:off x="591200" y="47995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Propuesta de solución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526925" y="1518450"/>
            <a:ext cx="7836600" cy="10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Frente a esta problemática se propuso y desarrolló una herramienta tecnológica que permite registrar y acceder a información relevante de los domicilios y sus residentes durante una emergencia.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Además</a:t>
            </a:r>
            <a:r>
              <a:rPr b="1" lang="es" sz="1000"/>
              <a:t> de un </a:t>
            </a:r>
            <a:r>
              <a:rPr b="1" lang="es" sz="1000"/>
              <a:t>módulo</a:t>
            </a:r>
            <a:r>
              <a:rPr b="1" lang="es" sz="1000"/>
              <a:t> para que bomberos </a:t>
            </a:r>
            <a:r>
              <a:rPr b="1" lang="es" sz="1000"/>
              <a:t>puedan</a:t>
            </a:r>
            <a:r>
              <a:rPr b="1" lang="es" sz="1000"/>
              <a:t> gestionar los grifos.</a:t>
            </a:r>
            <a:endParaRPr b="1" sz="100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lang="es" sz="1000"/>
            </a:br>
            <a:endParaRPr sz="1000"/>
          </a:p>
        </p:txBody>
      </p:sp>
      <p:pic>
        <p:nvPicPr>
          <p:cNvPr id="151" name="Google Shape;15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33925" y="2926338"/>
            <a:ext cx="1221550" cy="122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9863" y="2892012"/>
            <a:ext cx="1300975" cy="1290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07750" y="2839375"/>
            <a:ext cx="1255876" cy="125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49925" y="2802025"/>
            <a:ext cx="1330575" cy="133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7"/>
          <p:cNvSpPr txBox="1"/>
          <p:nvPr>
            <p:ph type="title"/>
          </p:nvPr>
        </p:nvSpPr>
        <p:spPr>
          <a:xfrm>
            <a:off x="1617075" y="4729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EDT</a:t>
            </a:r>
            <a:endParaRPr/>
          </a:p>
        </p:txBody>
      </p:sp>
      <p:pic>
        <p:nvPicPr>
          <p:cNvPr id="160" name="Google Shape;160;p17" title="FINAL FINAL FINAL FINAL FINA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100" y="1600275"/>
            <a:ext cx="4138250" cy="251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8"/>
          <p:cNvSpPr txBox="1"/>
          <p:nvPr>
            <p:ph idx="4294967295" type="title"/>
          </p:nvPr>
        </p:nvSpPr>
        <p:spPr>
          <a:xfrm>
            <a:off x="1630625" y="663950"/>
            <a:ext cx="45039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 general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613450" y="1714500"/>
            <a:ext cx="3743700" cy="25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s" sz="1000"/>
              <a:t>Desarrollar una herramienta tecnológica que proporcione información de rápido acceso para emergencias, mediante dos aplicaciones interconectadas.</a:t>
            </a:r>
            <a:endParaRPr sz="1000"/>
          </a:p>
        </p:txBody>
      </p:sp>
      <p:pic>
        <p:nvPicPr>
          <p:cNvPr id="167" name="Google Shape;167;p18" title="77b961105b60a398c157736bca84992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43200" y="1408250"/>
            <a:ext cx="2867525" cy="286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9"/>
          <p:cNvSpPr txBox="1"/>
          <p:nvPr>
            <p:ph type="title"/>
          </p:nvPr>
        </p:nvSpPr>
        <p:spPr>
          <a:xfrm>
            <a:off x="647550" y="656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Objetivos </a:t>
            </a:r>
            <a:r>
              <a:rPr lang="es"/>
              <a:t>específicos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443900" y="1752825"/>
            <a:ext cx="4762500" cy="23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Disminución del tiempo de recolección de información en una emergencia en un 30% </a:t>
            </a:r>
            <a:r>
              <a:rPr lang="es" sz="1000"/>
              <a:t>en el primer trimestre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Disminución del tiempo de consulta de información en una emergencia en un 30% en el primer trimestre.</a:t>
            </a:r>
            <a:endParaRPr sz="1000"/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  <a:p>
            <a:pPr indent="-292100" lvl="0" marL="457200" rtl="0" algn="just">
              <a:spcBef>
                <a:spcPts val="0"/>
              </a:spcBef>
              <a:spcAft>
                <a:spcPts val="0"/>
              </a:spcAft>
              <a:buSzPts val="1000"/>
              <a:buAutoNum type="arabicPeriod"/>
            </a:pPr>
            <a:r>
              <a:rPr lang="es" sz="1000"/>
              <a:t>Lograr registrar al menos el 60% de los grifos de una comuna en un plazo de 6 meses desde su implantación.</a:t>
            </a:r>
            <a:endParaRPr b="1" sz="1000" u="sng"/>
          </a:p>
        </p:txBody>
      </p:sp>
      <p:pic>
        <p:nvPicPr>
          <p:cNvPr id="174" name="Google Shape;174;p19" title="4117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6075" y="1463325"/>
            <a:ext cx="2907000" cy="290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/>
          <p:nvPr/>
        </p:nvSpPr>
        <p:spPr>
          <a:xfrm>
            <a:off x="4572100" y="1310525"/>
            <a:ext cx="3987300" cy="35019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0"/>
          <p:cNvSpPr/>
          <p:nvPr/>
        </p:nvSpPr>
        <p:spPr>
          <a:xfrm>
            <a:off x="584800" y="1310525"/>
            <a:ext cx="3987300" cy="35019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0"/>
          <p:cNvSpPr txBox="1"/>
          <p:nvPr>
            <p:ph type="title"/>
          </p:nvPr>
        </p:nvSpPr>
        <p:spPr>
          <a:xfrm>
            <a:off x="1764325" y="487475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Alcance y limitaciones</a:t>
            </a:r>
            <a:endParaRPr/>
          </a:p>
        </p:txBody>
      </p:sp>
      <p:sp>
        <p:nvSpPr>
          <p:cNvPr id="182" name="Google Shape;182;p20"/>
          <p:cNvSpPr txBox="1"/>
          <p:nvPr/>
        </p:nvSpPr>
        <p:spPr>
          <a:xfrm>
            <a:off x="685200" y="1952875"/>
            <a:ext cx="3546900" cy="24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Desarrollo de app móvil para bomberos.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Desarrollo de app móvil y web para Residentes.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Módulo de manejo y gestión de grifos.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Desarrollo de web admin.</a:t>
            </a:r>
            <a:endParaRPr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183" name="Google Shape;183;p20"/>
          <p:cNvSpPr txBox="1"/>
          <p:nvPr/>
        </p:nvSpPr>
        <p:spPr>
          <a:xfrm>
            <a:off x="4670350" y="1748075"/>
            <a:ext cx="3790800" cy="262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es para mensajería/ comunicación.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hay reporte de incendios o accidentes.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No es para rutas.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Solo permite ingresar viviendas en territorio de Chile.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Limitación en costos debido a la funcionalidad de bomberos.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Bomberos trabaja con tablets.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Bomberos es quien gestiona y entrega acceso a la app.</a:t>
            </a:r>
            <a:endParaRPr sz="1000"/>
          </a:p>
        </p:txBody>
      </p:sp>
      <p:pic>
        <p:nvPicPr>
          <p:cNvPr id="184" name="Google Shape;184;p20" title="1030899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8675" y="4121088"/>
            <a:ext cx="587575" cy="58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title="632502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2225" y="3971700"/>
            <a:ext cx="744300" cy="74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572000" y="1310525"/>
            <a:ext cx="4135200" cy="33582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1"/>
          <p:cNvSpPr/>
          <p:nvPr/>
        </p:nvSpPr>
        <p:spPr>
          <a:xfrm>
            <a:off x="436850" y="1310525"/>
            <a:ext cx="4135200" cy="33582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1"/>
          <p:cNvSpPr txBox="1"/>
          <p:nvPr>
            <p:ph idx="4294967295" type="title"/>
          </p:nvPr>
        </p:nvSpPr>
        <p:spPr>
          <a:xfrm>
            <a:off x="1911150" y="503200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sp>
        <p:nvSpPr>
          <p:cNvPr id="193" name="Google Shape;193;p21"/>
          <p:cNvSpPr/>
          <p:nvPr/>
        </p:nvSpPr>
        <p:spPr>
          <a:xfrm>
            <a:off x="436850" y="2120825"/>
            <a:ext cx="4135200" cy="12963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479750" y="1392050"/>
            <a:ext cx="3507600" cy="335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Metodología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Agil, Scrum</a:t>
            </a:r>
            <a:endParaRPr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Ventaja: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Permite realizar entregas parciales e iterativas, facilitando la validación temprana del sistema. Además, ofrece una alta capacidad de adaptación a cambios y prioriza la entrega de valor en cada iteración.</a:t>
            </a:r>
            <a:endParaRPr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Desventaja: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s" sz="1000"/>
              <a:t>Requiere compromiso de stakeholders para participar en revisiones y retrospectivas, lo que puede generar confusión, demoras innecesarias o tiempos muertos.</a:t>
            </a:r>
            <a:endParaRPr sz="1000"/>
          </a:p>
          <a:p>
            <a:pPr indent="0" lvl="0" marL="0" rtl="0" algn="just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 txBox="1"/>
          <p:nvPr/>
        </p:nvSpPr>
        <p:spPr>
          <a:xfrm>
            <a:off x="4695225" y="1454900"/>
            <a:ext cx="39246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Porqué:</a:t>
            </a:r>
            <a:endParaRPr b="1" sz="1000"/>
          </a:p>
          <a:p>
            <a:pPr indent="-292100" lvl="0" marL="45720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Permite desarrollar y entregar funcionalidades clave en fases, priorizando lo más importante (registro de viviendas, información para bomberos).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Incorpora feedback por iteración, garantizando que el sistema responda a las necesidades reales de bomberos y residentes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s" sz="1000"/>
              <a:t>Minimiza riesgos y costos, asegurando un producto útil aun si el alcance debe ajustarse.</a:t>
            </a:r>
            <a:endParaRPr sz="1000"/>
          </a:p>
          <a:p>
            <a:pPr indent="-292100" lvl="0" marL="45720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s" sz="1000"/>
              <a:t>Favorece la colaboración constante, algo crucial para un sistema que involucra varias entidades (comunidades, bomberos, desarrolladores)</a:t>
            </a:r>
            <a:r>
              <a:rPr b="1" lang="es" sz="1000"/>
              <a:t>.</a:t>
            </a:r>
            <a:endParaRPr sz="10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/>
          <p:nvPr>
            <p:ph idx="4294967295" type="title"/>
          </p:nvPr>
        </p:nvSpPr>
        <p:spPr>
          <a:xfrm>
            <a:off x="1911150" y="191900"/>
            <a:ext cx="5321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Equipo/Roles</a:t>
            </a:r>
            <a:endParaRPr/>
          </a:p>
        </p:txBody>
      </p:sp>
      <p:graphicFrame>
        <p:nvGraphicFramePr>
          <p:cNvPr id="201" name="Google Shape;201;p22"/>
          <p:cNvGraphicFramePr/>
          <p:nvPr/>
        </p:nvGraphicFramePr>
        <p:xfrm>
          <a:off x="570450" y="815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{A22A6C49-D09A-436A-8785-5FEA15467169}</a:tableStyleId>
              </a:tblPr>
              <a:tblGrid>
                <a:gridCol w="2514400"/>
                <a:gridCol w="1663000"/>
                <a:gridCol w="3854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Integrante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Rol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200"/>
                        <a:t>Función </a:t>
                      </a:r>
                      <a:endParaRPr b="1" sz="1200"/>
                    </a:p>
                  </a:txBody>
                  <a:tcPr marT="91425" marB="91425" marR="91425" marL="91425">
                    <a:solidFill>
                      <a:srgbClr val="A4C2F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Kevin Fierro Cantero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Scrum Master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Gestiona el proceso Scrum, organiza sprints y desarrolla el sistema.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José Montenegro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Equipo Dev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Implementa funcionalidades, participa en estimaciones y desarrollo.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Katherine Cespedes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Equipo Dev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Implementa funcionalidades, participa en estimaciones y desarrollo.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Profesores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Product Owner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Define requerimientos, prioriza backlog y valida funcionalidades.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Profesores + Voluntarios de Bomberos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Stakeholders 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Evalúan el proyecto, entregan feedback y validación académica/estratégica.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Junta Nacional de Cuerpos de Bomberos de Chile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Sponsor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Financia y respalda el proyecto.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Voluntarios de Bomberos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End Users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Usan la aplicación en contexto operativo.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Ciudadanos / residentes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End Users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Usan la aplicación para registrar información.</a:t>
                      </a:r>
                      <a:endParaRPr sz="10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3"/>
          <p:cNvSpPr txBox="1"/>
          <p:nvPr>
            <p:ph type="title"/>
          </p:nvPr>
        </p:nvSpPr>
        <p:spPr>
          <a:xfrm>
            <a:off x="2673150" y="445500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Organización temporal</a:t>
            </a:r>
            <a:endParaRPr/>
          </a:p>
        </p:txBody>
      </p:sp>
      <p:graphicFrame>
        <p:nvGraphicFramePr>
          <p:cNvPr id="207" name="Google Shape;207;p23"/>
          <p:cNvGraphicFramePr/>
          <p:nvPr/>
        </p:nvGraphicFramePr>
        <p:xfrm>
          <a:off x="1650550" y="14673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{91146979-946A-4DF6-A76B-758DD54EFE7F}</a:tableStyleId>
              </a:tblPr>
              <a:tblGrid>
                <a:gridCol w="537200"/>
                <a:gridCol w="3928750"/>
                <a:gridCol w="1139825"/>
              </a:tblGrid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ID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Épica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/>
                        <a:t>Priorización</a:t>
                      </a:r>
                      <a:endParaRPr b="1" sz="1000"/>
                    </a:p>
                  </a:txBody>
                  <a:tcPr marT="0" marB="0" marR="68575" marL="68575">
                    <a:solidFill>
                      <a:srgbClr val="C6D9F1"/>
                    </a:solidFill>
                  </a:tcPr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01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Gestión de residentes, viviendas y mascotas (App Usuarios)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02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Consulta y visualización de emergencias (App Bomberos)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04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Administración y gestión general  (Web Admin)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Must Have</a:t>
                      </a:r>
                      <a:endParaRPr sz="1000"/>
                    </a:p>
                  </a:txBody>
                  <a:tcPr marT="0" marB="0" marR="68575" marL="68575"/>
                </a:tc>
              </a:tr>
              <a:tr h="12700"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03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Módulo de grifos (App Bomberos)</a:t>
                      </a:r>
                      <a:endParaRPr sz="1000"/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rtl="0" algn="just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Should Have</a:t>
                      </a:r>
                      <a:endParaRPr sz="1000"/>
                    </a:p>
                  </a:txBody>
                  <a:tcPr marT="0" marB="0" marR="68575" marL="68575"/>
                </a:tc>
              </a:tr>
            </a:tbl>
          </a:graphicData>
        </a:graphic>
      </p:graphicFrame>
      <p:pic>
        <p:nvPicPr>
          <p:cNvPr id="208" name="Google Shape;20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0238" y="3027350"/>
            <a:ext cx="5486400" cy="107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4"/>
          <p:cNvSpPr txBox="1"/>
          <p:nvPr>
            <p:ph type="title"/>
          </p:nvPr>
        </p:nvSpPr>
        <p:spPr>
          <a:xfrm>
            <a:off x="2413175" y="9402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1</a:t>
            </a:r>
            <a:endParaRPr/>
          </a:p>
        </p:txBody>
      </p:sp>
      <p:sp>
        <p:nvSpPr>
          <p:cNvPr id="214" name="Google Shape;214;p24"/>
          <p:cNvSpPr txBox="1"/>
          <p:nvPr/>
        </p:nvSpPr>
        <p:spPr>
          <a:xfrm>
            <a:off x="330250" y="528650"/>
            <a:ext cx="3594600" cy="21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S1: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FASE 0: </a:t>
            </a:r>
            <a:r>
              <a:rPr b="1" lang="es" sz="1100"/>
              <a:t>Infraestructura y arquitectura</a:t>
            </a:r>
            <a:endParaRPr b="1" sz="10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Configuración del sistema</a:t>
            </a: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s" sz="1100"/>
              <a:t>Arquitectura y base de datos</a:t>
            </a:r>
            <a:endParaRPr b="1" sz="1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EPICA 1: App Usuarios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Registro e inicio de sesión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Registro de vivienda</a:t>
            </a:r>
            <a:endParaRPr sz="1100"/>
          </a:p>
        </p:txBody>
      </p:sp>
      <p:pic>
        <p:nvPicPr>
          <p:cNvPr id="215" name="Google Shape;21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66600" y="838325"/>
            <a:ext cx="4647151" cy="158132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4"/>
          <p:cNvSpPr txBox="1"/>
          <p:nvPr>
            <p:ph type="title"/>
          </p:nvPr>
        </p:nvSpPr>
        <p:spPr>
          <a:xfrm>
            <a:off x="2356950" y="2589150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2</a:t>
            </a:r>
            <a:endParaRPr/>
          </a:p>
        </p:txBody>
      </p:sp>
      <p:sp>
        <p:nvSpPr>
          <p:cNvPr id="217" name="Google Shape;217;p24"/>
          <p:cNvSpPr txBox="1"/>
          <p:nvPr/>
        </p:nvSpPr>
        <p:spPr>
          <a:xfrm>
            <a:off x="330250" y="3299750"/>
            <a:ext cx="3473700" cy="19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S2: </a:t>
            </a:r>
            <a:endParaRPr b="1" sz="10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EPICA 1: App Usuarios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vivienda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integrantes del hogar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br>
              <a:rPr b="1" lang="es" sz="1000"/>
            </a:br>
            <a:endParaRPr b="1" sz="1000"/>
          </a:p>
        </p:txBody>
      </p:sp>
      <p:sp>
        <p:nvSpPr>
          <p:cNvPr id="218" name="Google Shape;218;p24"/>
          <p:cNvSpPr txBox="1"/>
          <p:nvPr/>
        </p:nvSpPr>
        <p:spPr>
          <a:xfrm>
            <a:off x="5030775" y="3333450"/>
            <a:ext cx="3587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000"/>
          </a:p>
        </p:txBody>
      </p:sp>
      <p:pic>
        <p:nvPicPr>
          <p:cNvPr id="219" name="Google Shape;219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5900" y="3424150"/>
            <a:ext cx="5257850" cy="1341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5"/>
          <p:cNvSpPr txBox="1"/>
          <p:nvPr>
            <p:ph type="title"/>
          </p:nvPr>
        </p:nvSpPr>
        <p:spPr>
          <a:xfrm>
            <a:off x="2588825" y="194900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3</a:t>
            </a:r>
            <a:endParaRPr/>
          </a:p>
        </p:txBody>
      </p:sp>
      <p:sp>
        <p:nvSpPr>
          <p:cNvPr id="225" name="Google Shape;225;p25"/>
          <p:cNvSpPr txBox="1"/>
          <p:nvPr/>
        </p:nvSpPr>
        <p:spPr>
          <a:xfrm>
            <a:off x="328325" y="767900"/>
            <a:ext cx="3947700" cy="16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S3: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EPICA 2: App Bomberos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Configurar comuna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Buscar viviendas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Ver información completa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Mapa viviendas</a:t>
            </a:r>
            <a:endParaRPr b="1" sz="1000"/>
          </a:p>
        </p:txBody>
      </p:sp>
      <p:pic>
        <p:nvPicPr>
          <p:cNvPr id="226" name="Google Shape;22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46875" y="939200"/>
            <a:ext cx="5182825" cy="1313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5"/>
          <p:cNvSpPr txBox="1"/>
          <p:nvPr>
            <p:ph type="title"/>
          </p:nvPr>
        </p:nvSpPr>
        <p:spPr>
          <a:xfrm>
            <a:off x="2503663" y="2307188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Sprint 4</a:t>
            </a:r>
            <a:endParaRPr/>
          </a:p>
        </p:txBody>
      </p:sp>
      <p:sp>
        <p:nvSpPr>
          <p:cNvPr id="228" name="Google Shape;228;p25"/>
          <p:cNvSpPr txBox="1"/>
          <p:nvPr/>
        </p:nvSpPr>
        <p:spPr>
          <a:xfrm>
            <a:off x="459763" y="2571750"/>
            <a:ext cx="3947700" cy="23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00"/>
              <a:t>Cobertura S4: </a:t>
            </a:r>
            <a:endParaRPr b="1" sz="1000"/>
          </a:p>
          <a:p>
            <a:pPr indent="0" lvl="0" marL="0" rtl="0" algn="just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lang="es" sz="1000"/>
              <a:t>EPICA 3: Módulo de grifos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</a:t>
            </a:r>
            <a:r>
              <a:rPr lang="es" sz="1100"/>
              <a:t> de grifos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en mapa</a:t>
            </a:r>
            <a:endParaRPr sz="1100"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000"/>
              <a:t>EPICA 4: Web Admin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usuarios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Visualización del sistema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s" sz="1100"/>
              <a:t>Gestión de roles</a:t>
            </a:r>
            <a:endParaRPr sz="1100"/>
          </a:p>
        </p:txBody>
      </p:sp>
      <p:pic>
        <p:nvPicPr>
          <p:cNvPr id="229" name="Google Shape;229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66613" y="3105763"/>
            <a:ext cx="5040350" cy="1616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6" title="C1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88" y="484175"/>
            <a:ext cx="8723224" cy="4484649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6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Arquitectura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7" title="C2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700" y="192487"/>
            <a:ext cx="8548601" cy="4758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28" title="C3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199" cy="47902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MER</a:t>
            </a:r>
            <a:endParaRPr/>
          </a:p>
        </p:txBody>
      </p:sp>
      <p:pic>
        <p:nvPicPr>
          <p:cNvPr id="251" name="Google Shape;251;p29" title="M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263" y="988925"/>
            <a:ext cx="8985323" cy="3696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-338975" y="29722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Comunas</a:t>
            </a:r>
            <a:endParaRPr/>
          </a:p>
        </p:txBody>
      </p:sp>
      <p:pic>
        <p:nvPicPr>
          <p:cNvPr id="257" name="Google Shape;257;p30" title="MER.png"/>
          <p:cNvPicPr preferRelativeResize="0"/>
          <p:nvPr/>
        </p:nvPicPr>
        <p:blipFill rotWithShape="1">
          <a:blip r:embed="rId3">
            <a:alphaModFix/>
          </a:blip>
          <a:srcRect b="0" l="494" r="51044" t="3512"/>
          <a:stretch/>
        </p:blipFill>
        <p:spPr>
          <a:xfrm>
            <a:off x="2880925" y="206150"/>
            <a:ext cx="5781999" cy="4736051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30"/>
          <p:cNvSpPr/>
          <p:nvPr/>
        </p:nvSpPr>
        <p:spPr>
          <a:xfrm>
            <a:off x="7305300" y="739750"/>
            <a:ext cx="1490700" cy="87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0"/>
          <p:cNvSpPr/>
          <p:nvPr/>
        </p:nvSpPr>
        <p:spPr>
          <a:xfrm>
            <a:off x="7305300" y="3656875"/>
            <a:ext cx="1490700" cy="8796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1"/>
          <p:cNvSpPr txBox="1"/>
          <p:nvPr>
            <p:ph type="title"/>
          </p:nvPr>
        </p:nvSpPr>
        <p:spPr>
          <a:xfrm>
            <a:off x="2673150" y="396175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MER</a:t>
            </a:r>
            <a:endParaRPr/>
          </a:p>
        </p:txBody>
      </p:sp>
      <p:pic>
        <p:nvPicPr>
          <p:cNvPr id="265" name="Google Shape;265;p31" title="MER.png"/>
          <p:cNvPicPr preferRelativeResize="0"/>
          <p:nvPr/>
        </p:nvPicPr>
        <p:blipFill rotWithShape="1">
          <a:blip r:embed="rId3">
            <a:alphaModFix/>
          </a:blip>
          <a:srcRect b="7544" l="36012" r="0" t="0"/>
          <a:stretch/>
        </p:blipFill>
        <p:spPr>
          <a:xfrm>
            <a:off x="1004150" y="209538"/>
            <a:ext cx="7947800" cy="47244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1"/>
          <p:cNvSpPr txBox="1"/>
          <p:nvPr>
            <p:ph type="title"/>
          </p:nvPr>
        </p:nvSpPr>
        <p:spPr>
          <a:xfrm>
            <a:off x="-289475" y="266300"/>
            <a:ext cx="3797700" cy="74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Grupo familiar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/>
          <p:nvPr>
            <p:ph type="title"/>
          </p:nvPr>
        </p:nvSpPr>
        <p:spPr>
          <a:xfrm>
            <a:off x="647550" y="656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Obstáculos</a:t>
            </a:r>
            <a:endParaRPr/>
          </a:p>
        </p:txBody>
      </p:sp>
      <p:pic>
        <p:nvPicPr>
          <p:cNvPr id="272" name="Google Shape;272;p32" title="1825202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69600" y="2613900"/>
            <a:ext cx="2103625" cy="2103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32"/>
          <p:cNvSpPr txBox="1"/>
          <p:nvPr/>
        </p:nvSpPr>
        <p:spPr>
          <a:xfrm>
            <a:off x="348725" y="1772200"/>
            <a:ext cx="5228100" cy="311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-Hubo errores de validación en formulario de registro de integrantes. El campo "Condición Médica" se encontraba configurado como obligatorio cuando debería ser opcional según los requisitos funcionales.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-No permitía registrar RUN con 1 solo dígito inicial (X.XXX.XXX-X).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-Hubo un error de actualización visual en “Tiempo de Residencia”; los datos se guardaban en la BD pero no se reflejan en la UI.</a:t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3"/>
          <p:cNvSpPr txBox="1"/>
          <p:nvPr>
            <p:ph type="title"/>
          </p:nvPr>
        </p:nvSpPr>
        <p:spPr>
          <a:xfrm>
            <a:off x="647550" y="65607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Resultados obtenidos</a:t>
            </a:r>
            <a:endParaRPr/>
          </a:p>
        </p:txBody>
      </p:sp>
      <p:graphicFrame>
        <p:nvGraphicFramePr>
          <p:cNvPr id="279" name="Google Shape;279;p33"/>
          <p:cNvGraphicFramePr/>
          <p:nvPr/>
        </p:nvGraphicFramePr>
        <p:xfrm>
          <a:off x="734675" y="142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{A22A6C49-D09A-436A-8785-5FEA15467169}</a:tableStyleId>
              </a:tblPr>
              <a:tblGrid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00"/>
                        <a:t>Módulo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00"/>
                        <a:t>Estado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Aplicación Residente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Completo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Aplicación Bomberos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Completo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Gestión de Grifos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Completo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Aplicación Administrador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Completo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Servicios Geoespaciales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/>
                        <a:t>Completo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80" name="Google Shape;280;p33"/>
          <p:cNvSpPr txBox="1"/>
          <p:nvPr/>
        </p:nvSpPr>
        <p:spPr>
          <a:xfrm>
            <a:off x="4525150" y="2379150"/>
            <a:ext cx="41247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38/38 Historias de Usuario implementadas.</a:t>
            </a:r>
            <a:br>
              <a:rPr lang="es"/>
            </a:b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122/122 tareas completadas.</a:t>
            </a:r>
            <a:br>
              <a:rPr lang="es"/>
            </a:b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s"/>
              <a:t>4/4 Sprints ejecutados.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4"/>
          <p:cNvSpPr txBox="1"/>
          <p:nvPr>
            <p:ph type="title"/>
          </p:nvPr>
        </p:nvSpPr>
        <p:spPr>
          <a:xfrm>
            <a:off x="1617075" y="472925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EDT</a:t>
            </a:r>
            <a:endParaRPr/>
          </a:p>
        </p:txBody>
      </p:sp>
      <p:pic>
        <p:nvPicPr>
          <p:cNvPr id="286" name="Google Shape;286;p34" title="FINAL FINAL FINAL FINAL FINA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96100" y="1600275"/>
            <a:ext cx="4138250" cy="251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5"/>
          <p:cNvSpPr txBox="1"/>
          <p:nvPr>
            <p:ph type="title"/>
          </p:nvPr>
        </p:nvSpPr>
        <p:spPr>
          <a:xfrm>
            <a:off x="1911150" y="2108250"/>
            <a:ext cx="5321700" cy="74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Demostración</a:t>
            </a:r>
            <a:r>
              <a:rPr lang="es"/>
              <a:t> de producto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