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6A99FB-A25B-4E06-807F-EB956F5D355E}">
  <a:tblStyle styleId="{FF6A99FB-A25B-4E06-807F-EB956F5D35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83BCD93-6F9B-4AEE-985E-E3DCE8DAF3C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5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4.xml"/><Relationship Id="rId32" Type="http://schemas.openxmlformats.org/officeDocument/2006/relationships/font" Target="fonts/Nuni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22f22f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722f22f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52e0d6aca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52e0d6aca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52e0d6aca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52e0d6aca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f6c5cd001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f6c5cd001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52e0d6aca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52e0d6aca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52e0d6aca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52e0d6aca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e367742f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e367742f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367742f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e367742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7262acac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7262acac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722f22f86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722f22f86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7262acac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7262acac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7262acac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7262acac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f6c5cd00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f6c5cd00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f6c5cd00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f6c5cd00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f6c5cd00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f6c5cd00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f6c5cd00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f6c5cd00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f6c5cd00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f6c5cd00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f6c5cd00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f6c5cd00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722f22f8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722f22f8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f6c5cd0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f6c5cd0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e367742f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e367742f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f6c5cd00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f6c5cd00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2704650" y="2667000"/>
            <a:ext cx="3734700" cy="12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Arial"/>
                <a:ea typeface="Arial"/>
                <a:cs typeface="Arial"/>
                <a:sym typeface="Arial"/>
              </a:rPr>
              <a:t>Integrantes: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s" sz="1300">
                <a:latin typeface="Arial"/>
                <a:ea typeface="Arial"/>
                <a:cs typeface="Arial"/>
                <a:sym typeface="Arial"/>
              </a:rPr>
              <a:t>Kevin Fierro Cantero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s" sz="1300">
                <a:latin typeface="Arial"/>
                <a:ea typeface="Arial"/>
                <a:cs typeface="Arial"/>
                <a:sym typeface="Arial"/>
              </a:rPr>
              <a:t>José Manuel Montenegro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s" sz="1300">
                <a:latin typeface="Arial"/>
                <a:ea typeface="Arial"/>
                <a:cs typeface="Arial"/>
                <a:sym typeface="Arial"/>
              </a:rPr>
              <a:t>Katherine Céspedes Céspedes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891350" y="1315125"/>
            <a:ext cx="53613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200">
                <a:solidFill>
                  <a:schemeClr val="dk2"/>
                </a:solidFill>
              </a:rPr>
              <a:t>   FireData</a:t>
            </a:r>
            <a:endParaRPr sz="7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3149850" y="433075"/>
            <a:ext cx="28443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19000" y="1643725"/>
            <a:ext cx="40530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/>
              <a:t>En situaciones de emergencia como incendios, terremotos o evacuaciones, los equipos de bomberos deben actuar rápidamente para salvar vidas. Sin embargo, en la práctica, muchas de sus decisiones se toman en condiciones de alta incertidumbre.</a:t>
            </a:r>
            <a:endParaRPr b="1"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/>
              <a:t>Esto provoca que, en muchas ocasiones, deban improvisar en terreno, adaptándose a un escenario desconocido, lo que aumenta los riesgos tanto para los residentes como para los propios voluntarios.</a:t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00"/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10412" l="0" r="0" t="6157"/>
          <a:stretch/>
        </p:blipFill>
        <p:spPr>
          <a:xfrm>
            <a:off x="5183150" y="2899335"/>
            <a:ext cx="3061252" cy="177666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3150" y="1177377"/>
            <a:ext cx="3061240" cy="172194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3069850" y="679675"/>
            <a:ext cx="28443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r>
              <a:rPr lang="es"/>
              <a:t> 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19000" y="1678950"/>
            <a:ext cx="52305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/>
              <a:t>El principal problema radica en la falta de información crítica y estructurada antes de que los equipos de bomberos lleguen a una emergencia.</a:t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/>
              <a:t>Actualmente, no es posible conocer con anticipación cuántas personas se encuentran en una vivienda, si existen personas con condiciones especiales, la presencia de mascotas o incluso la existencia de materiales peligrosos en el lugar.</a:t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000"/>
              <a:t>Esto provoca que los equipos de emergencia deban improvisar las decisiones en terreno, afectando negativamente la eficiencia, seguridad y efectividad de la respuesta, generando a su vez demoras críticas en situaciones donde el tiempo es un factor determinante.</a:t>
            </a:r>
            <a:endParaRPr sz="1000"/>
          </a:p>
        </p:txBody>
      </p:sp>
      <p:pic>
        <p:nvPicPr>
          <p:cNvPr id="144" name="Google Shape;144;p15" title="7efbd4631ac4b04d5541a6bef75904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9450" y="1544925"/>
            <a:ext cx="2479651" cy="247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591200" y="479950"/>
            <a:ext cx="5321700" cy="7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de solución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26925" y="1518450"/>
            <a:ext cx="7836600" cy="1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/>
              <a:t>Frente a esta problemática se propuso y desarrolló una herramienta tecnológica que permite registrar y acceder a información relevante de los domicilios y sus residentes durante una emergencia.</a:t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/>
              <a:t>Además</a:t>
            </a:r>
            <a:r>
              <a:rPr b="1" lang="es" sz="1000"/>
              <a:t> de un </a:t>
            </a:r>
            <a:r>
              <a:rPr b="1" lang="es" sz="1000"/>
              <a:t>módulo</a:t>
            </a:r>
            <a:r>
              <a:rPr b="1" lang="es" sz="1000"/>
              <a:t> para que bomberos </a:t>
            </a:r>
            <a:r>
              <a:rPr b="1" lang="es" sz="1000"/>
              <a:t>puedan</a:t>
            </a:r>
            <a:r>
              <a:rPr b="1" lang="es" sz="1000"/>
              <a:t> gestionar los grifos.</a:t>
            </a:r>
            <a:endParaRPr b="1"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s" sz="1000"/>
            </a:br>
            <a:endParaRPr sz="1000"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3925" y="2926338"/>
            <a:ext cx="1221550" cy="12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863" y="2892012"/>
            <a:ext cx="1300975" cy="129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7750" y="2839375"/>
            <a:ext cx="1255876" cy="12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9925" y="2802025"/>
            <a:ext cx="1330575" cy="13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617075" y="472925"/>
            <a:ext cx="5321700" cy="7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EDT</a:t>
            </a:r>
            <a:endParaRPr/>
          </a:p>
        </p:txBody>
      </p:sp>
      <p:pic>
        <p:nvPicPr>
          <p:cNvPr id="160" name="Google Shape;160;p17" title="FINAL FINAL FINAL FINAL 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100" y="1600275"/>
            <a:ext cx="4138250" cy="251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idx="4294967295" type="title"/>
          </p:nvPr>
        </p:nvSpPr>
        <p:spPr>
          <a:xfrm>
            <a:off x="1630625" y="663950"/>
            <a:ext cx="45039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general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13450" y="1714500"/>
            <a:ext cx="37437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Desarrollar una herramienta tecnológica que proporcione información de rápido acceso para emergencias, mediante dos aplicaciones interconectadas; una que permita registrar la información de un domicilio y otra en la que bomberos puedan consultar esta información durante una emergencia. Además de permitir registrar la ubicación y el estado de los grifos de agua para visualizarlos en un mapa.</a:t>
            </a:r>
            <a:endParaRPr sz="10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1000"/>
              <a:t>Desarrollar plataforma que centraliza información crítica de viviendas para apoyar la respuesta de Bomberos durante emergencias. </a:t>
            </a:r>
            <a:endParaRPr sz="1000"/>
          </a:p>
        </p:txBody>
      </p:sp>
      <p:pic>
        <p:nvPicPr>
          <p:cNvPr id="167" name="Google Shape;167;p18" title="77b961105b60a398c157736bca84992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200" y="1408250"/>
            <a:ext cx="2867525" cy="28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647550" y="656075"/>
            <a:ext cx="5321700" cy="7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</a:t>
            </a:r>
            <a:r>
              <a:rPr lang="es"/>
              <a:t>específicos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43900" y="1752825"/>
            <a:ext cx="4762500" cy="2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s" sz="1000"/>
              <a:t>Aumento de la cantidad de información obtenida de una residencia para una emergencia en un 40% en el primer trimestre.</a:t>
            </a:r>
            <a:endParaRPr sz="10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s" sz="1000"/>
              <a:t>Disminución del tiempo de recolección de información en una emergencia en un 30% </a:t>
            </a:r>
            <a:r>
              <a:rPr lang="es" sz="1000"/>
              <a:t>en el primer trimestre</a:t>
            </a:r>
            <a:endParaRPr sz="10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s" sz="1000"/>
              <a:t>Disminución del tiempo de consulta de información en una emergencia en un 30% en el primer trimestre.</a:t>
            </a:r>
            <a:endParaRPr sz="10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s" sz="1000"/>
              <a:t>Lograr registrar al menos el 60% de los grifos de una comuna en un plazo de 6 meses desde su implantación.</a:t>
            </a:r>
            <a:endParaRPr b="1" sz="1000" u="sng"/>
          </a:p>
        </p:txBody>
      </p:sp>
      <p:pic>
        <p:nvPicPr>
          <p:cNvPr id="174" name="Google Shape;174;p19" title="4117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6075" y="1463325"/>
            <a:ext cx="2907000" cy="29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/>
          <p:nvPr/>
        </p:nvSpPr>
        <p:spPr>
          <a:xfrm>
            <a:off x="4572100" y="1310525"/>
            <a:ext cx="3987300" cy="3501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84800" y="1310525"/>
            <a:ext cx="3987300" cy="3501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 txBox="1"/>
          <p:nvPr>
            <p:ph type="title"/>
          </p:nvPr>
        </p:nvSpPr>
        <p:spPr>
          <a:xfrm>
            <a:off x="1764325" y="487475"/>
            <a:ext cx="5321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Alcance y limitaciones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85200" y="1952875"/>
            <a:ext cx="3546900" cy="24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Desarrollo de app móvil para bomberos.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Desarrollo de app móvil y web para Residentes.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Módulo de manejo y gestión de grifos.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Desarrollo de web admin.</a:t>
            </a:r>
            <a:endParaRPr sz="10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70350" y="1748075"/>
            <a:ext cx="3790800" cy="26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No es para mensajería/ comunicación.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No hay reporte de incendios o accidentes.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No es para rutas.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Solo permite ingresar viviendas en territorio de Chile.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Limitación en costos debido a la funcionalidad de bomberos.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Bomberos trabaja con tablets.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Bomberos es quien gestiona y entrega acceso a la app.</a:t>
            </a:r>
            <a:endParaRPr sz="1000"/>
          </a:p>
        </p:txBody>
      </p:sp>
      <p:pic>
        <p:nvPicPr>
          <p:cNvPr id="184" name="Google Shape;184;p20" title="1030899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8675" y="4121088"/>
            <a:ext cx="587575" cy="5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title="63250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2225" y="3971700"/>
            <a:ext cx="744300" cy="74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572000" y="1310525"/>
            <a:ext cx="4135200" cy="3358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36850" y="1310525"/>
            <a:ext cx="4135200" cy="3358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>
            <p:ph idx="4294967295" type="title"/>
          </p:nvPr>
        </p:nvSpPr>
        <p:spPr>
          <a:xfrm>
            <a:off x="1911150" y="503200"/>
            <a:ext cx="5321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436850" y="2120825"/>
            <a:ext cx="4135200" cy="1296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79750" y="1392050"/>
            <a:ext cx="3507600" cy="3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/>
              <a:t>Metodología</a:t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000"/>
              <a:t>Agil, Scrum</a:t>
            </a:r>
            <a:endParaRPr sz="10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Ventaja:</a:t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000"/>
              <a:t>Permite realizar entregas parciales e iterativas, facilitando la validación temprana del sistema. Además, ofrece una alta capacidad de adaptación a cambios y prioriza la entrega de valor en cada iteración.</a:t>
            </a:r>
            <a:endParaRPr sz="10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Desventaja:</a:t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000"/>
              <a:t>Requiere compromiso de stakeholders para participar en revisiones y retrospectivas, lo que puede generar confusión, demoras innecesarias o tiempos muertos.</a:t>
            </a:r>
            <a:endParaRPr sz="1000"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95225" y="1454900"/>
            <a:ext cx="3924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/>
              <a:t>Porqué:</a:t>
            </a:r>
            <a:endParaRPr b="1" sz="1000"/>
          </a:p>
          <a:p>
            <a:pPr indent="-29210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Permite desarrollar y entregar funcionalidades clave en fases, priorizando lo más importante (registro de viviendas, información para bomberos).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Incorpora feedback por iteración, garantizando que el sistema responda a las necesidades reales de bomberos y residentes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Minimiza riesgos y costos, asegurando un producto útil aun si el alcance debe ajustarse.</a:t>
            </a:r>
            <a:endParaRPr sz="1000"/>
          </a:p>
          <a:p>
            <a:pPr indent="-2921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s" sz="1000"/>
              <a:t>Favorece la colaboración constante, algo crucial para un sistema que involucra varias entidades (comunidades, bomberos, desarrolladores)</a:t>
            </a:r>
            <a:r>
              <a:rPr b="1" lang="es" sz="1000"/>
              <a:t>.</a:t>
            </a:r>
            <a:endParaRPr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idx="4294967295" type="title"/>
          </p:nvPr>
        </p:nvSpPr>
        <p:spPr>
          <a:xfrm>
            <a:off x="1911150" y="191900"/>
            <a:ext cx="5321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Equipo/Roles</a:t>
            </a:r>
            <a:endParaRPr/>
          </a:p>
        </p:txBody>
      </p:sp>
      <p:graphicFrame>
        <p:nvGraphicFramePr>
          <p:cNvPr id="201" name="Google Shape;201;p22"/>
          <p:cNvGraphicFramePr/>
          <p:nvPr/>
        </p:nvGraphicFramePr>
        <p:xfrm>
          <a:off x="570450" y="81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{FF6A99FB-A25B-4E06-807F-EB956F5D355E}</a:tableStyleId>
              </a:tblPr>
              <a:tblGrid>
                <a:gridCol w="2514400"/>
                <a:gridCol w="1663000"/>
                <a:gridCol w="3854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Integrante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Rol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Función 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Kevin Fierro Cantero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Scrum Master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Gestiona el proceso Scrum, organiza sprints y desarrolla el sistema.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José Montenegro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Equipo Dev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Implementa funcionalidades, participa en estimaciones y desarrollo.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Katherine Cespedes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Equipo Dev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Implementa funcionalidades, participa en estimaciones y desarrollo.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Profesores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Product Owner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Define requerimientos, prioriza backlog y valida funcionalidades.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Profesores + Voluntarios de Bomberos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Stakeholders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Evalúan el proyecto, entregan feedback y validación académica/estratégica.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Junta Nacional de Cuerpos de Bomberos de Chile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Sponsor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Financia y respalda el proyecto.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Voluntarios de Bomberos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End Users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Usan la aplicación en contexto operativo.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Ciudadanos / residentes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End Users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Usan la aplicación para registrar información.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2673150" y="445500"/>
            <a:ext cx="3797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Organización temporal</a:t>
            </a:r>
            <a:endParaRPr/>
          </a:p>
        </p:txBody>
      </p:sp>
      <p:graphicFrame>
        <p:nvGraphicFramePr>
          <p:cNvPr id="207" name="Google Shape;207;p23"/>
          <p:cNvGraphicFramePr/>
          <p:nvPr/>
        </p:nvGraphicFramePr>
        <p:xfrm>
          <a:off x="1650550" y="14673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{483BCD93-6F9B-4AEE-985E-E3DCE8DAF3C4}</a:tableStyleId>
              </a:tblPr>
              <a:tblGrid>
                <a:gridCol w="537200"/>
                <a:gridCol w="3928750"/>
                <a:gridCol w="1139825"/>
              </a:tblGrid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ID</a:t>
                      </a:r>
                      <a:endParaRPr b="1" sz="1000"/>
                    </a:p>
                  </a:txBody>
                  <a:tcPr marT="0" marB="0" marR="68575" marL="68575"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Épica</a:t>
                      </a:r>
                      <a:endParaRPr b="1" sz="1000"/>
                    </a:p>
                  </a:txBody>
                  <a:tcPr marT="0" marB="0" marR="68575" marL="68575"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Priorización</a:t>
                      </a:r>
                      <a:endParaRPr b="1" sz="1000"/>
                    </a:p>
                  </a:txBody>
                  <a:tcPr marT="0" marB="0" marR="68575" marL="68575">
                    <a:solidFill>
                      <a:srgbClr val="C6D9F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01</a:t>
                      </a:r>
                      <a:endParaRPr sz="10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Gestión de residentes, viviendas y mascotas (App Usuarios)</a:t>
                      </a:r>
                      <a:endParaRPr sz="10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Must Have</a:t>
                      </a:r>
                      <a:endParaRPr sz="1000"/>
                    </a:p>
                  </a:txBody>
                  <a:tcPr marT="0" marB="0" marR="68575" marL="6857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02</a:t>
                      </a:r>
                      <a:endParaRPr sz="10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Consulta y visualización de emergencias (App Bomberos)</a:t>
                      </a:r>
                      <a:endParaRPr sz="10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Must Have</a:t>
                      </a:r>
                      <a:endParaRPr sz="1000"/>
                    </a:p>
                  </a:txBody>
                  <a:tcPr marT="0" marB="0" marR="68575" marL="6857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04</a:t>
                      </a:r>
                      <a:endParaRPr sz="10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Administración y gestión general  (Web Admin)</a:t>
                      </a:r>
                      <a:endParaRPr sz="10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Must Have</a:t>
                      </a:r>
                      <a:endParaRPr sz="1000"/>
                    </a:p>
                  </a:txBody>
                  <a:tcPr marT="0" marB="0" marR="68575" marL="6857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03</a:t>
                      </a:r>
                      <a:endParaRPr sz="10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Módulo de grifos (App Bomberos)</a:t>
                      </a:r>
                      <a:endParaRPr sz="1000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Should Have</a:t>
                      </a:r>
                      <a:endParaRPr sz="1000"/>
                    </a:p>
                  </a:txBody>
                  <a:tcPr marT="0" marB="0" marR="68575" marL="68575"/>
                </a:tc>
              </a:tr>
            </a:tbl>
          </a:graphicData>
        </a:graphic>
      </p:graphicFrame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238" y="3027350"/>
            <a:ext cx="5486400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413175" y="94025"/>
            <a:ext cx="3797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Sprint 1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330250" y="528650"/>
            <a:ext cx="3594600" cy="1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/>
              <a:t>Cobertura S1: </a:t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FASE 0: </a:t>
            </a:r>
            <a:r>
              <a:rPr b="1" lang="es" sz="1100"/>
              <a:t>Infraestructura y arquitectura</a:t>
            </a:r>
            <a:endParaRPr b="1" sz="10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Configuración del sistema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s" sz="1100"/>
              <a:t>Arquitectura y base de datos</a:t>
            </a:r>
            <a:endParaRPr b="1"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/>
              <a:t>EPICA 1: App Usuarios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Registro e inicio de sesión</a:t>
            </a:r>
            <a:endParaRPr b="1" sz="1000"/>
          </a:p>
        </p:txBody>
      </p:sp>
      <p:pic>
        <p:nvPicPr>
          <p:cNvPr id="215" name="Google Shape;21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6600" y="838325"/>
            <a:ext cx="4647151" cy="15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 txBox="1"/>
          <p:nvPr>
            <p:ph type="title"/>
          </p:nvPr>
        </p:nvSpPr>
        <p:spPr>
          <a:xfrm>
            <a:off x="2356950" y="2589150"/>
            <a:ext cx="3797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Sprint 2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330250" y="3299750"/>
            <a:ext cx="3473700" cy="19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/>
              <a:t>Cobertura S2: </a:t>
            </a:r>
            <a:endParaRPr b="1"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/>
              <a:t>EPICA 1: App Usuarios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Gestión de vivienda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Gestión de integrantes del hogar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Visualización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es" sz="1000"/>
            </a:br>
            <a:endParaRPr b="1" sz="1000"/>
          </a:p>
        </p:txBody>
      </p:sp>
      <p:sp>
        <p:nvSpPr>
          <p:cNvPr id="218" name="Google Shape;218;p24"/>
          <p:cNvSpPr txBox="1"/>
          <p:nvPr/>
        </p:nvSpPr>
        <p:spPr>
          <a:xfrm>
            <a:off x="5030775" y="3333450"/>
            <a:ext cx="35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00"/>
          </a:p>
        </p:txBody>
      </p:sp>
      <p:pic>
        <p:nvPicPr>
          <p:cNvPr id="219" name="Google Shape;21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5900" y="3424150"/>
            <a:ext cx="5257850" cy="13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>
            <p:ph type="title"/>
          </p:nvPr>
        </p:nvSpPr>
        <p:spPr>
          <a:xfrm>
            <a:off x="2588825" y="194900"/>
            <a:ext cx="3797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Sprint 3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328325" y="767900"/>
            <a:ext cx="3947700" cy="1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/>
              <a:t>Cobertura S3: </a:t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EPICA 2: App Bomberos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Configurar comuna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Buscar viviendas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Ver información completa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Mapa viviendas</a:t>
            </a:r>
            <a:endParaRPr b="1" sz="1000"/>
          </a:p>
        </p:txBody>
      </p:sp>
      <p:pic>
        <p:nvPicPr>
          <p:cNvPr id="226" name="Google Shape;2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6875" y="939200"/>
            <a:ext cx="5182825" cy="131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>
            <p:ph type="title"/>
          </p:nvPr>
        </p:nvSpPr>
        <p:spPr>
          <a:xfrm>
            <a:off x="2503663" y="2307188"/>
            <a:ext cx="3797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Sprint 4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459763" y="2571750"/>
            <a:ext cx="39477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/>
              <a:t>Cobertura S4: </a:t>
            </a:r>
            <a:endParaRPr b="1" sz="10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EPICA 3: Módulo de grifos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Gestión</a:t>
            </a:r>
            <a:r>
              <a:rPr lang="es" sz="1100"/>
              <a:t> de grifos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Visualización en mapa</a:t>
            </a:r>
            <a:endParaRPr sz="1100"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/>
              <a:t>EPICA 4: Web Admin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Gestión de usuarios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Visualización del sistema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Gestión de roles</a:t>
            </a:r>
            <a:endParaRPr sz="1100"/>
          </a:p>
        </p:txBody>
      </p:sp>
      <p:pic>
        <p:nvPicPr>
          <p:cNvPr id="229" name="Google Shape;2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613" y="3105763"/>
            <a:ext cx="5040350" cy="161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6" title="C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88" y="484175"/>
            <a:ext cx="8723224" cy="448464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 txBox="1"/>
          <p:nvPr>
            <p:ph type="title"/>
          </p:nvPr>
        </p:nvSpPr>
        <p:spPr>
          <a:xfrm>
            <a:off x="2673150" y="396175"/>
            <a:ext cx="3797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7" title="C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700" y="192487"/>
            <a:ext cx="8548601" cy="475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8" title="C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790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2673150" y="396175"/>
            <a:ext cx="3797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</a:t>
            </a:r>
            <a:endParaRPr/>
          </a:p>
        </p:txBody>
      </p:sp>
      <p:pic>
        <p:nvPicPr>
          <p:cNvPr id="251" name="Google Shape;251;p29" title="M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63" y="988925"/>
            <a:ext cx="8985323" cy="369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>
            <p:ph type="title"/>
          </p:nvPr>
        </p:nvSpPr>
        <p:spPr>
          <a:xfrm>
            <a:off x="-338975" y="297225"/>
            <a:ext cx="3797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Comunas</a:t>
            </a:r>
            <a:endParaRPr/>
          </a:p>
        </p:txBody>
      </p:sp>
      <p:pic>
        <p:nvPicPr>
          <p:cNvPr id="257" name="Google Shape;257;p30" title="MER.png"/>
          <p:cNvPicPr preferRelativeResize="0"/>
          <p:nvPr/>
        </p:nvPicPr>
        <p:blipFill rotWithShape="1">
          <a:blip r:embed="rId3">
            <a:alphaModFix/>
          </a:blip>
          <a:srcRect b="0" l="494" r="51044" t="3512"/>
          <a:stretch/>
        </p:blipFill>
        <p:spPr>
          <a:xfrm>
            <a:off x="2880925" y="206150"/>
            <a:ext cx="5781999" cy="473605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0"/>
          <p:cNvSpPr/>
          <p:nvPr/>
        </p:nvSpPr>
        <p:spPr>
          <a:xfrm>
            <a:off x="7305300" y="739750"/>
            <a:ext cx="1490700" cy="879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7305300" y="3656875"/>
            <a:ext cx="1490700" cy="879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2673150" y="396175"/>
            <a:ext cx="3797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</a:t>
            </a:r>
            <a:endParaRPr/>
          </a:p>
        </p:txBody>
      </p:sp>
      <p:pic>
        <p:nvPicPr>
          <p:cNvPr id="265" name="Google Shape;265;p31" title="MER.png"/>
          <p:cNvPicPr preferRelativeResize="0"/>
          <p:nvPr/>
        </p:nvPicPr>
        <p:blipFill rotWithShape="1">
          <a:blip r:embed="rId3">
            <a:alphaModFix/>
          </a:blip>
          <a:srcRect b="7544" l="36012" r="0" t="0"/>
          <a:stretch/>
        </p:blipFill>
        <p:spPr>
          <a:xfrm>
            <a:off x="1004150" y="209538"/>
            <a:ext cx="7947800" cy="47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1"/>
          <p:cNvSpPr txBox="1"/>
          <p:nvPr>
            <p:ph type="title"/>
          </p:nvPr>
        </p:nvSpPr>
        <p:spPr>
          <a:xfrm>
            <a:off x="-289475" y="266300"/>
            <a:ext cx="37977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familiar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/>
          <p:nvPr/>
        </p:nvSpPr>
        <p:spPr>
          <a:xfrm>
            <a:off x="4855200" y="1911875"/>
            <a:ext cx="2371800" cy="2529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2"/>
          <p:cNvSpPr/>
          <p:nvPr/>
        </p:nvSpPr>
        <p:spPr>
          <a:xfrm>
            <a:off x="1620675" y="1911875"/>
            <a:ext cx="2371800" cy="2529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2"/>
          <p:cNvSpPr txBox="1"/>
          <p:nvPr>
            <p:ph type="title"/>
          </p:nvPr>
        </p:nvSpPr>
        <p:spPr>
          <a:xfrm>
            <a:off x="1650950" y="480750"/>
            <a:ext cx="5321700" cy="7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</a:t>
            </a:r>
            <a:endParaRPr/>
          </a:p>
        </p:txBody>
      </p:sp>
      <p:pic>
        <p:nvPicPr>
          <p:cNvPr id="274" name="Google Shape;274;p32"/>
          <p:cNvPicPr preferRelativeResize="0"/>
          <p:nvPr/>
        </p:nvPicPr>
        <p:blipFill rotWithShape="1">
          <a:blip r:embed="rId3">
            <a:alphaModFix/>
          </a:blip>
          <a:srcRect b="35831" l="0" r="0" t="37508"/>
          <a:stretch/>
        </p:blipFill>
        <p:spPr>
          <a:xfrm>
            <a:off x="5202075" y="2226138"/>
            <a:ext cx="1678013" cy="4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2"/>
          <p:cNvPicPr preferRelativeResize="0"/>
          <p:nvPr/>
        </p:nvPicPr>
        <p:blipFill rotWithShape="1">
          <a:blip r:embed="rId4">
            <a:alphaModFix/>
          </a:blip>
          <a:srcRect b="37101" l="11364" r="8495" t="37096"/>
          <a:stretch/>
        </p:blipFill>
        <p:spPr>
          <a:xfrm>
            <a:off x="2111603" y="2226150"/>
            <a:ext cx="1389647" cy="44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2"/>
          <p:cNvPicPr preferRelativeResize="0"/>
          <p:nvPr/>
        </p:nvPicPr>
        <p:blipFill rotWithShape="1">
          <a:blip r:embed="rId5">
            <a:alphaModFix/>
          </a:blip>
          <a:srcRect b="7002" l="3030" r="2568" t="7506"/>
          <a:stretch/>
        </p:blipFill>
        <p:spPr>
          <a:xfrm>
            <a:off x="1860798" y="2933963"/>
            <a:ext cx="1891275" cy="68515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/>
          <p:nvPr>
            <p:ph type="title"/>
          </p:nvPr>
        </p:nvSpPr>
        <p:spPr>
          <a:xfrm>
            <a:off x="1620525" y="1464575"/>
            <a:ext cx="2371800" cy="447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80"/>
              <a:t>Front </a:t>
            </a:r>
            <a:endParaRPr sz="1880"/>
          </a:p>
        </p:txBody>
      </p:sp>
      <p:sp>
        <p:nvSpPr>
          <p:cNvPr id="278" name="Google Shape;278;p32"/>
          <p:cNvSpPr txBox="1"/>
          <p:nvPr>
            <p:ph type="title"/>
          </p:nvPr>
        </p:nvSpPr>
        <p:spPr>
          <a:xfrm>
            <a:off x="4855188" y="1464575"/>
            <a:ext cx="2371800" cy="447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80"/>
              <a:t>Base de datos</a:t>
            </a:r>
            <a:endParaRPr sz="1880"/>
          </a:p>
        </p:txBody>
      </p:sp>
      <p:pic>
        <p:nvPicPr>
          <p:cNvPr id="279" name="Google Shape;27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6267" y="2852625"/>
            <a:ext cx="1318075" cy="1318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type="title"/>
          </p:nvPr>
        </p:nvSpPr>
        <p:spPr>
          <a:xfrm>
            <a:off x="647550" y="656075"/>
            <a:ext cx="5321700" cy="7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Obstáculos</a:t>
            </a:r>
            <a:endParaRPr/>
          </a:p>
        </p:txBody>
      </p:sp>
      <p:pic>
        <p:nvPicPr>
          <p:cNvPr id="285" name="Google Shape;285;p33" title="182520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9600" y="2613900"/>
            <a:ext cx="2103625" cy="21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 txBox="1"/>
          <p:nvPr/>
        </p:nvSpPr>
        <p:spPr>
          <a:xfrm>
            <a:off x="348725" y="1772200"/>
            <a:ext cx="5228100" cy="3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-Hubo errores de validación en formulario de registro de integrantes. El campo "Condición Médica" se encontraba configurado como obligatorio cuando debería ser opcional según los requisitos funcionales.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-No permitía registrar RUN con 1 solo dígito inicial (X.XXX.XXX-X).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-Hubo un error de actualización visual en “Tiempo de Residencia”; los datos se guardaban en la BD pero no se reflejan en la UI.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647550" y="656075"/>
            <a:ext cx="5321700" cy="7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Resultados obtenidos</a:t>
            </a:r>
            <a:endParaRPr/>
          </a:p>
        </p:txBody>
      </p:sp>
      <p:graphicFrame>
        <p:nvGraphicFramePr>
          <p:cNvPr id="292" name="Google Shape;292;p34"/>
          <p:cNvGraphicFramePr/>
          <p:nvPr/>
        </p:nvGraphicFramePr>
        <p:xfrm>
          <a:off x="734675" y="142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{FF6A99FB-A25B-4E06-807F-EB956F5D355E}</a:tableStyleId>
              </a:tblPr>
              <a:tblGrid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Módulo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/>
                        <a:t>Estado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Aplicación Residente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Completo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Aplicación Bomberos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Completo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Gestión de Grifos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Completo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Aplicación Administrador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Completo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Servicios Geoespaciales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Completo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3" name="Google Shape;293;p34"/>
          <p:cNvSpPr txBox="1"/>
          <p:nvPr/>
        </p:nvSpPr>
        <p:spPr>
          <a:xfrm>
            <a:off x="4525150" y="2379150"/>
            <a:ext cx="4124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38/38 Historias de Usuario implementadas.</a:t>
            </a:r>
            <a:br>
              <a:rPr lang="es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122/122 tareas completadas.</a:t>
            </a:r>
            <a:br>
              <a:rPr lang="es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4/4 Sprints ejecutados.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>
            <p:ph type="title"/>
          </p:nvPr>
        </p:nvSpPr>
        <p:spPr>
          <a:xfrm>
            <a:off x="1911150" y="2108250"/>
            <a:ext cx="5321700" cy="7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Demostración</a:t>
            </a:r>
            <a:r>
              <a:rPr lang="es"/>
              <a:t> de producto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