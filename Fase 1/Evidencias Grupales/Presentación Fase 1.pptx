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5143500" cx="9144000"/>
  <p:notesSz cx="6858000" cy="9144000"/>
  <p:embeddedFontLst>
    <p:embeddedFont>
      <p:font typeface="Nunito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2" roundtripDataSignature="AMtx7mhCa9h6yemLFAwp1CUXf/9xosOXf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D4FB929-DAA8-4586-A3F1-F62DD5586048}">
  <a:tblStyle styleId="{4D4FB929-DAA8-4586-A3F1-F62DD5586048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737A1CDC-EAFA-427D-8046-3931621206BA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Nunito-regular.fntdata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Nunito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Nunito-boldItalic.fntdata"/><Relationship Id="rId30" Type="http://schemas.openxmlformats.org/officeDocument/2006/relationships/font" Target="fonts/Nunito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customschemas.google.com/relationships/presentationmetadata" Target="meta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1" name="Google Shape;26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" name="Google Shape;29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0" name="Google Shape;300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23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23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23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" name="Google Shape;14;p23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3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23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23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" name="Google Shape;18;p23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3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23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23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" name="Google Shape;22;p23"/>
          <p:cNvGrpSpPr/>
          <p:nvPr/>
        </p:nvGrpSpPr>
        <p:grpSpPr>
          <a:xfrm>
            <a:off x="7057468" y="5088"/>
            <a:ext cx="1851281" cy="752108"/>
            <a:chOff x="6917201" y="0"/>
            <a:chExt cx="2227776" cy="863400"/>
          </a:xfrm>
        </p:grpSpPr>
        <p:sp>
          <p:nvSpPr>
            <p:cNvPr id="23" name="Google Shape;23;p2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2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2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" name="Google Shape;26;p23"/>
          <p:cNvGrpSpPr/>
          <p:nvPr/>
        </p:nvGrpSpPr>
        <p:grpSpPr>
          <a:xfrm>
            <a:off x="6553032" y="4217852"/>
            <a:ext cx="2389067" cy="925737"/>
            <a:chOff x="6917201" y="0"/>
            <a:chExt cx="2227776" cy="863400"/>
          </a:xfrm>
        </p:grpSpPr>
        <p:sp>
          <p:nvSpPr>
            <p:cNvPr id="27" name="Google Shape;27;p2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2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2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0" name="Google Shape;30;p23"/>
          <p:cNvGrpSpPr/>
          <p:nvPr/>
        </p:nvGrpSpPr>
        <p:grpSpPr>
          <a:xfrm>
            <a:off x="199149" y="4055652"/>
            <a:ext cx="2795413" cy="1083308"/>
            <a:chOff x="6917201" y="0"/>
            <a:chExt cx="2227776" cy="863400"/>
          </a:xfrm>
        </p:grpSpPr>
        <p:sp>
          <p:nvSpPr>
            <p:cNvPr id="31" name="Google Shape;31;p2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2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2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" name="Google Shape;34;p23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3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2" name="Google Shape;42;p2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3" name="Google Shape;43;p2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5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" name="Google Shape;46;p25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7" name="Google Shape;47;p25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48" name="Google Shape;48;p25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25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25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1" name="Google Shape;51;p2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2" name="Google Shape;52;p25"/>
          <p:cNvGrpSpPr/>
          <p:nvPr/>
        </p:nvGrpSpPr>
        <p:grpSpPr>
          <a:xfrm>
            <a:off x="34934" y="4522125"/>
            <a:ext cx="1593305" cy="617072"/>
            <a:chOff x="6917201" y="0"/>
            <a:chExt cx="2227776" cy="863400"/>
          </a:xfrm>
        </p:grpSpPr>
        <p:sp>
          <p:nvSpPr>
            <p:cNvPr id="53" name="Google Shape;53;p25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54;p25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p25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6" name="Google Shape;56;p25"/>
          <p:cNvGrpSpPr/>
          <p:nvPr/>
        </p:nvGrpSpPr>
        <p:grpSpPr>
          <a:xfrm>
            <a:off x="5886353" y="1243"/>
            <a:ext cx="3257454" cy="1261514"/>
            <a:chOff x="6917201" y="0"/>
            <a:chExt cx="2227776" cy="863400"/>
          </a:xfrm>
        </p:grpSpPr>
        <p:sp>
          <p:nvSpPr>
            <p:cNvPr id="57" name="Google Shape;57;p25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25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25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0" name="Google Shape;60;p25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61" name="Google Shape;61;p2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2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2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26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67" name="Google Shape;67;p2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2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2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7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3" name="Google Shape;73;p27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4" name="Google Shape;74;p27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5" name="Google Shape;75;p2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8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28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2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28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81" name="Google Shape;81;p28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82" name="Google Shape;82;p2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9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5" name="Google Shape;85;p29"/>
          <p:cNvGrpSpPr/>
          <p:nvPr/>
        </p:nvGrpSpPr>
        <p:grpSpPr>
          <a:xfrm>
            <a:off x="5594191" y="3961115"/>
            <a:ext cx="2910144" cy="1182340"/>
            <a:chOff x="6917201" y="0"/>
            <a:chExt cx="2227776" cy="863400"/>
          </a:xfrm>
        </p:grpSpPr>
        <p:sp>
          <p:nvSpPr>
            <p:cNvPr id="86" name="Google Shape;86;p29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29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29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9" name="Google Shape;89;p29"/>
          <p:cNvGrpSpPr/>
          <p:nvPr/>
        </p:nvGrpSpPr>
        <p:grpSpPr>
          <a:xfrm>
            <a:off x="199149" y="2"/>
            <a:ext cx="2795413" cy="1083308"/>
            <a:chOff x="6917201" y="0"/>
            <a:chExt cx="2227776" cy="863400"/>
          </a:xfrm>
        </p:grpSpPr>
        <p:sp>
          <p:nvSpPr>
            <p:cNvPr id="90" name="Google Shape;90;p29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29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29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3" name="Google Shape;93;p29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94" name="Google Shape;94;p2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3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3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30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3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1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31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31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31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6" name="Google Shape;106;p31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7" name="Google Shape;107;p31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8" name="Google Shape;108;p3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2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1" name="Google Shape;111;p32"/>
          <p:cNvGrpSpPr/>
          <p:nvPr/>
        </p:nvGrpSpPr>
        <p:grpSpPr>
          <a:xfrm>
            <a:off x="5959222" y="4119576"/>
            <a:ext cx="2520951" cy="1024165"/>
            <a:chOff x="6917201" y="0"/>
            <a:chExt cx="2227776" cy="863400"/>
          </a:xfrm>
        </p:grpSpPr>
        <p:sp>
          <p:nvSpPr>
            <p:cNvPr id="112" name="Google Shape;112;p3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3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3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5" name="Google Shape;115;p32"/>
          <p:cNvGrpSpPr/>
          <p:nvPr/>
        </p:nvGrpSpPr>
        <p:grpSpPr>
          <a:xfrm>
            <a:off x="199149" y="2"/>
            <a:ext cx="2795413" cy="1083308"/>
            <a:chOff x="6917201" y="0"/>
            <a:chExt cx="2227776" cy="863400"/>
          </a:xfrm>
        </p:grpSpPr>
        <p:sp>
          <p:nvSpPr>
            <p:cNvPr id="116" name="Google Shape;116;p3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3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3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9" name="Google Shape;119;p32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32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3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3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b="0" i="0" sz="2800" u="none" cap="none" strike="noStrik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22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b="0" i="0" sz="13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b="0" i="0" sz="11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3.png"/><Relationship Id="rId4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2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26.png"/><Relationship Id="rId9" Type="http://schemas.openxmlformats.org/officeDocument/2006/relationships/image" Target="../media/image12.png"/><Relationship Id="rId5" Type="http://schemas.openxmlformats.org/officeDocument/2006/relationships/image" Target="../media/image6.png"/><Relationship Id="rId6" Type="http://schemas.openxmlformats.org/officeDocument/2006/relationships/image" Target="../media/image11.png"/><Relationship Id="rId7" Type="http://schemas.openxmlformats.org/officeDocument/2006/relationships/image" Target="../media/image10.png"/><Relationship Id="rId8" Type="http://schemas.openxmlformats.org/officeDocument/2006/relationships/image" Target="../media/image2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7.png"/><Relationship Id="rId4" Type="http://schemas.openxmlformats.org/officeDocument/2006/relationships/image" Target="../media/image25.png"/><Relationship Id="rId5" Type="http://schemas.openxmlformats.org/officeDocument/2006/relationships/image" Target="../media/image14.png"/><Relationship Id="rId6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9" Type="http://schemas.openxmlformats.org/officeDocument/2006/relationships/image" Target="../media/image26.png"/><Relationship Id="rId5" Type="http://schemas.openxmlformats.org/officeDocument/2006/relationships/image" Target="../media/image12.png"/><Relationship Id="rId6" Type="http://schemas.openxmlformats.org/officeDocument/2006/relationships/image" Target="../media/image6.png"/><Relationship Id="rId7" Type="http://schemas.openxmlformats.org/officeDocument/2006/relationships/image" Target="../media/image19.png"/><Relationship Id="rId8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8.png"/><Relationship Id="rId4" Type="http://schemas.openxmlformats.org/officeDocument/2006/relationships/image" Target="../media/image24.png"/><Relationship Id="rId5" Type="http://schemas.openxmlformats.org/officeDocument/2006/relationships/image" Target="../media/image1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"/>
          <p:cNvSpPr txBox="1"/>
          <p:nvPr>
            <p:ph idx="1" type="subTitle"/>
          </p:nvPr>
        </p:nvSpPr>
        <p:spPr>
          <a:xfrm>
            <a:off x="2704650" y="2667000"/>
            <a:ext cx="3734700" cy="12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s" sz="1300">
                <a:latin typeface="Arial"/>
                <a:ea typeface="Arial"/>
                <a:cs typeface="Arial"/>
                <a:sym typeface="Arial"/>
              </a:rPr>
              <a:t>Integrantes: 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s" sz="1300">
                <a:latin typeface="Arial"/>
                <a:ea typeface="Arial"/>
                <a:cs typeface="Arial"/>
                <a:sym typeface="Arial"/>
              </a:rPr>
              <a:t>Kevin Fierro Cantero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s" sz="1300">
                <a:latin typeface="Arial"/>
                <a:ea typeface="Arial"/>
                <a:cs typeface="Arial"/>
                <a:sym typeface="Arial"/>
              </a:rPr>
              <a:t>José Manuel Montenegro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s" sz="1300">
                <a:latin typeface="Arial"/>
                <a:ea typeface="Arial"/>
                <a:cs typeface="Arial"/>
                <a:sym typeface="Arial"/>
              </a:rPr>
              <a:t>Katherine Céspedes Céspedes</a:t>
            </a:r>
            <a:endParaRPr sz="1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"/>
          <p:cNvSpPr txBox="1"/>
          <p:nvPr/>
        </p:nvSpPr>
        <p:spPr>
          <a:xfrm>
            <a:off x="1891350" y="1315125"/>
            <a:ext cx="5361300" cy="8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b="0" i="0" lang="es" sz="7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  FireData</a:t>
            </a:r>
            <a:endParaRPr b="0" i="0" sz="7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"/>
          <p:cNvSpPr txBox="1"/>
          <p:nvPr>
            <p:ph type="title"/>
          </p:nvPr>
        </p:nvSpPr>
        <p:spPr>
          <a:xfrm>
            <a:off x="3149850" y="433075"/>
            <a:ext cx="2844300" cy="7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"/>
              <a:t>Contexto</a:t>
            </a:r>
            <a:endParaRPr/>
          </a:p>
        </p:txBody>
      </p:sp>
      <p:sp>
        <p:nvSpPr>
          <p:cNvPr id="135" name="Google Shape;135;p2"/>
          <p:cNvSpPr txBox="1"/>
          <p:nvPr/>
        </p:nvSpPr>
        <p:spPr>
          <a:xfrm>
            <a:off x="519000" y="1643725"/>
            <a:ext cx="4053000" cy="28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 situaciones de emergencia como incendios, terremotos o evacuaciones, los equipos de bomberos deben actuar rápidamente para salvar vidas. Sin embargo, en la práctica, muchas de sus decisiones se toman en condiciones de alta incertidumbre.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Esto provoca que, en muchas ocasiones, deban improvisar en terreno, adaptándose a un escenario desconocido, lo que aumenta los riesgos tanto para los residentes como para los propios voluntarios.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6" name="Google Shape;136;p2"/>
          <p:cNvPicPr preferRelativeResize="0"/>
          <p:nvPr/>
        </p:nvPicPr>
        <p:blipFill rotWithShape="1">
          <a:blip r:embed="rId3">
            <a:alphaModFix/>
          </a:blip>
          <a:srcRect b="10412" l="0" r="0" t="6157"/>
          <a:stretch/>
        </p:blipFill>
        <p:spPr>
          <a:xfrm>
            <a:off x="5183150" y="2899335"/>
            <a:ext cx="3061252" cy="1776666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37" name="Google Shape;137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83150" y="1177377"/>
            <a:ext cx="3061240" cy="1721948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"/>
          <p:cNvSpPr txBox="1"/>
          <p:nvPr>
            <p:ph type="title"/>
          </p:nvPr>
        </p:nvSpPr>
        <p:spPr>
          <a:xfrm>
            <a:off x="3069850" y="679675"/>
            <a:ext cx="2844300" cy="7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"/>
              <a:t>Problemática </a:t>
            </a:r>
            <a:endParaRPr/>
          </a:p>
        </p:txBody>
      </p:sp>
      <p:sp>
        <p:nvSpPr>
          <p:cNvPr id="143" name="Google Shape;143;p3"/>
          <p:cNvSpPr txBox="1"/>
          <p:nvPr/>
        </p:nvSpPr>
        <p:spPr>
          <a:xfrm>
            <a:off x="519000" y="1678950"/>
            <a:ext cx="5230500" cy="28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 principal problema radica en la falta de información crítica y estructurada antes de que los equipos de bomberos lleguen a una emergencia.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Actualmente, no es posible conocer con anticipación cuántas personas se encuentran en una vivienda, si existen personas con condiciones especiales, la presencia de mascotas o incluso la existencia de materiales peligrosos en el lugar.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Esto provoca que los equipos de emergencia deban improvisar las decisiones en terreno, afectando negativamente la eficiencia, seguridad y efectividad de la respuesta, generando a su vez demoras críticas en situaciones donde el tiempo es un factor determinante.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4" name="Google Shape;144;p3" title="7efbd4631ac4b04d5541a6bef7590412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59450" y="1544925"/>
            <a:ext cx="2479651" cy="2479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"/>
          <p:cNvSpPr txBox="1"/>
          <p:nvPr>
            <p:ph type="title"/>
          </p:nvPr>
        </p:nvSpPr>
        <p:spPr>
          <a:xfrm>
            <a:off x="591200" y="479950"/>
            <a:ext cx="5321700" cy="74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"/>
              <a:t>Propuesta de solución</a:t>
            </a:r>
            <a:endParaRPr/>
          </a:p>
        </p:txBody>
      </p:sp>
      <p:sp>
        <p:nvSpPr>
          <p:cNvPr id="150" name="Google Shape;150;p4"/>
          <p:cNvSpPr txBox="1"/>
          <p:nvPr/>
        </p:nvSpPr>
        <p:spPr>
          <a:xfrm>
            <a:off x="526925" y="1454950"/>
            <a:ext cx="7836600" cy="105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Frente a esta problemática proponemos el desarrollo de una herramienta tecnológica que permita registrar y acceder a información relevante de los domicilios y sus residentes durante una emergencia.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Además se implementará un modulo para que bomberos pueda gestionar los grifos.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Esta solución se llevará a cabo mediante el desarrollo de dos aplicaciones interconectadas: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000"/>
              <a:buFont typeface="Arial"/>
              <a:buNone/>
            </a:pPr>
            <a:br>
              <a:rPr b="0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1" name="Google Shape;15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39750" y="3170638"/>
            <a:ext cx="1221550" cy="122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4038" y="3136312"/>
            <a:ext cx="1300975" cy="1290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67025" y="3153475"/>
            <a:ext cx="1255876" cy="125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44100" y="3116125"/>
            <a:ext cx="1330575" cy="1330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9"/>
          <p:cNvSpPr txBox="1"/>
          <p:nvPr>
            <p:ph idx="4294967295" type="title"/>
          </p:nvPr>
        </p:nvSpPr>
        <p:spPr>
          <a:xfrm>
            <a:off x="1630625" y="663950"/>
            <a:ext cx="4503900" cy="7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Objetivo general</a:t>
            </a:r>
            <a:endParaRPr/>
          </a:p>
        </p:txBody>
      </p:sp>
      <p:sp>
        <p:nvSpPr>
          <p:cNvPr id="160" name="Google Shape;160;p9"/>
          <p:cNvSpPr txBox="1"/>
          <p:nvPr/>
        </p:nvSpPr>
        <p:spPr>
          <a:xfrm>
            <a:off x="613450" y="1714500"/>
            <a:ext cx="3743700" cy="25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Desarrollar una herramienta tecnológica que proporcione información de rápido acceso para emergencias, mediante dos aplicaciones interconectadas; una que permita registrar la información de un domicilio y otra en la que bomberos puedan consultar esta información durante una emergencia. Además de permitir registrar la ubicación y el estado de los grifos de agua para visualizarlos en un mapa.</a:t>
            </a:r>
            <a:endParaRPr b="1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1" name="Google Shape;161;p9" title="77b961105b60a398c157736bca84992e.jp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43200" y="1408250"/>
            <a:ext cx="2867525" cy="286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0"/>
          <p:cNvSpPr txBox="1"/>
          <p:nvPr>
            <p:ph type="title"/>
          </p:nvPr>
        </p:nvSpPr>
        <p:spPr>
          <a:xfrm>
            <a:off x="647550" y="656075"/>
            <a:ext cx="5321700" cy="74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"/>
              <a:t>Objetivos específicos</a:t>
            </a:r>
            <a:endParaRPr/>
          </a:p>
        </p:txBody>
      </p:sp>
      <p:sp>
        <p:nvSpPr>
          <p:cNvPr id="167" name="Google Shape;167;p10"/>
          <p:cNvSpPr txBox="1"/>
          <p:nvPr/>
        </p:nvSpPr>
        <p:spPr>
          <a:xfrm>
            <a:off x="443900" y="1752825"/>
            <a:ext cx="4762500" cy="23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b="0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Aumento de la cantidad de información obtenida de una residencia para una emergencia en un 40% en el primer trimestre.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b="0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Disminución del tiempo de recolección de información en una emergencia en un 30% en el primer trimestre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b="0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Disminución del tiempo de consulta de información en una emergencia en un 30% en el primer trimestre.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b="0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Lograr registrar al menos el 60% de los grifos de una comuna en un plazo de 6 meses desde su implantación.</a:t>
            </a:r>
            <a:endParaRPr b="1" i="0" sz="1000" u="sng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8" name="Google Shape;168;p10" title="41172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16075" y="1463325"/>
            <a:ext cx="2907000" cy="290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5"/>
          <p:cNvSpPr txBox="1"/>
          <p:nvPr>
            <p:ph type="title"/>
          </p:nvPr>
        </p:nvSpPr>
        <p:spPr>
          <a:xfrm>
            <a:off x="647550" y="430600"/>
            <a:ext cx="5321700" cy="74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"/>
              <a:t>App Residente</a:t>
            </a:r>
            <a:endParaRPr/>
          </a:p>
        </p:txBody>
      </p:sp>
      <p:sp>
        <p:nvSpPr>
          <p:cNvPr id="174" name="Google Shape;174;p5"/>
          <p:cNvSpPr txBox="1"/>
          <p:nvPr/>
        </p:nvSpPr>
        <p:spPr>
          <a:xfrm>
            <a:off x="757025" y="1600325"/>
            <a:ext cx="4697700" cy="17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Aplicación para Usuarios:</a:t>
            </a:r>
            <a:r>
              <a:rPr b="0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Permitirá a los residentes registrar información del hogar, incluyendo integrantes, condiciones especiales, mascotas, materiales peligrosos y características de la vivienda, con el fin de disponer de datos clave en caso de emergencia.</a:t>
            </a:r>
            <a:br>
              <a:rPr b="0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5"/>
          <p:cNvSpPr txBox="1"/>
          <p:nvPr/>
        </p:nvSpPr>
        <p:spPr>
          <a:xfrm>
            <a:off x="4797450" y="1454950"/>
            <a:ext cx="3374100" cy="17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6" name="Google Shape;17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08484" y="1769391"/>
            <a:ext cx="2229525" cy="2211125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5"/>
          <p:cNvSpPr txBox="1"/>
          <p:nvPr/>
        </p:nvSpPr>
        <p:spPr>
          <a:xfrm>
            <a:off x="647550" y="2718425"/>
            <a:ext cx="48708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marR="0" rtl="0" algn="just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b="0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Registro de vivienda (ubicación, material, estado, pisos)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b="0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Registro de integrantes del hogar y condiciones especiales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b="0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Registro de mascotas (datos básicos para identificación)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just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b="0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Registro de materiales peligrosos (gas, oxígeno, etc.)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6"/>
          <p:cNvSpPr txBox="1"/>
          <p:nvPr>
            <p:ph type="title"/>
          </p:nvPr>
        </p:nvSpPr>
        <p:spPr>
          <a:xfrm>
            <a:off x="612325" y="451725"/>
            <a:ext cx="5321700" cy="74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"/>
              <a:t>App Bomberos</a:t>
            </a:r>
            <a:endParaRPr/>
          </a:p>
        </p:txBody>
      </p:sp>
      <p:sp>
        <p:nvSpPr>
          <p:cNvPr id="183" name="Google Shape;183;p6"/>
          <p:cNvSpPr txBox="1"/>
          <p:nvPr/>
        </p:nvSpPr>
        <p:spPr>
          <a:xfrm>
            <a:off x="505850" y="3738400"/>
            <a:ext cx="16854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6"/>
          <p:cNvSpPr txBox="1"/>
          <p:nvPr/>
        </p:nvSpPr>
        <p:spPr>
          <a:xfrm>
            <a:off x="691550" y="1515125"/>
            <a:ext cx="4938300" cy="17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Aplicación para Bomberos:</a:t>
            </a:r>
            <a:r>
              <a:rPr b="0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Permitirá a los bomberos buscar domicilios mediante dirección y acceder a información crítica previamente registrada por los residentes. Esto incluye datos sobre los ocupantes, condiciones especiales, materiales peligrosos y características de la vivienda.</a:t>
            </a:r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5" name="Google Shape;18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75000" y="1761651"/>
            <a:ext cx="2146100" cy="214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6"/>
          <p:cNvSpPr txBox="1"/>
          <p:nvPr/>
        </p:nvSpPr>
        <p:spPr>
          <a:xfrm>
            <a:off x="612325" y="2713250"/>
            <a:ext cx="48921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marR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Búsqueda de viviendas por dirección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Visualización de información completa del domicilio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Identificación de riesgos y condiciones de residentes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Visualización en mapa para ubicar rápidamente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7"/>
          <p:cNvSpPr txBox="1"/>
          <p:nvPr>
            <p:ph type="title"/>
          </p:nvPr>
        </p:nvSpPr>
        <p:spPr>
          <a:xfrm>
            <a:off x="612325" y="451725"/>
            <a:ext cx="5321700" cy="74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"/>
              <a:t>Modulo de Grifos</a:t>
            </a:r>
            <a:endParaRPr/>
          </a:p>
        </p:txBody>
      </p:sp>
      <p:sp>
        <p:nvSpPr>
          <p:cNvPr id="192" name="Google Shape;192;p7"/>
          <p:cNvSpPr txBox="1"/>
          <p:nvPr/>
        </p:nvSpPr>
        <p:spPr>
          <a:xfrm>
            <a:off x="505850" y="3738400"/>
            <a:ext cx="16854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3" name="Google Shape;19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31600" y="1855525"/>
            <a:ext cx="2227549" cy="2227525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7"/>
          <p:cNvSpPr txBox="1"/>
          <p:nvPr/>
        </p:nvSpPr>
        <p:spPr>
          <a:xfrm>
            <a:off x="505850" y="2089950"/>
            <a:ext cx="16854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7"/>
          <p:cNvSpPr txBox="1"/>
          <p:nvPr/>
        </p:nvSpPr>
        <p:spPr>
          <a:xfrm>
            <a:off x="686275" y="1766850"/>
            <a:ext cx="49899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Modulo Grifos:</a:t>
            </a:r>
            <a:r>
              <a:rPr b="0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Un módulo adicional, incoporado dentro de App Bombero, enfocado en el registro de grifos de agua, el cual permitirá a los voluntarios registrar, visualizar y consultar grifos en un mapa, identificando su ubicación y estado.</a:t>
            </a:r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7"/>
          <p:cNvSpPr txBox="1"/>
          <p:nvPr/>
        </p:nvSpPr>
        <p:spPr>
          <a:xfrm>
            <a:off x="686275" y="2766300"/>
            <a:ext cx="48291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marR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Registro de grifos (ubicación y estado)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Visualización en mapa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Identificación de grifos más cercanos y operativos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Filtros por estado y/o comuna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8"/>
          <p:cNvSpPr txBox="1"/>
          <p:nvPr>
            <p:ph type="title"/>
          </p:nvPr>
        </p:nvSpPr>
        <p:spPr>
          <a:xfrm>
            <a:off x="612325" y="451725"/>
            <a:ext cx="5321700" cy="74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"/>
              <a:t>Web Admin</a:t>
            </a:r>
            <a:endParaRPr/>
          </a:p>
        </p:txBody>
      </p:sp>
      <p:sp>
        <p:nvSpPr>
          <p:cNvPr id="202" name="Google Shape;202;p8"/>
          <p:cNvSpPr txBox="1"/>
          <p:nvPr/>
        </p:nvSpPr>
        <p:spPr>
          <a:xfrm>
            <a:off x="576600" y="1854725"/>
            <a:ext cx="5124000" cy="17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Web Admin:</a:t>
            </a:r>
            <a:r>
              <a:rPr b="0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Permite la gestión y administración del sistema, incluyendo el control de usuarios, roles y acceso a la información. Se pueden visualizar, modificar o eliminar datos relacionados con residentes, bomberos, viviendas y grifos</a:t>
            </a:r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3" name="Google Shape;20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71075" y="1892000"/>
            <a:ext cx="1975325" cy="1975325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8"/>
          <p:cNvSpPr txBox="1"/>
          <p:nvPr/>
        </p:nvSpPr>
        <p:spPr>
          <a:xfrm>
            <a:off x="612325" y="2880250"/>
            <a:ext cx="46818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marR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Gestión de usuarios (residentes y bomberos)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Visualización y control de información del sistema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Administración de roles y accesos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1"/>
          <p:cNvSpPr/>
          <p:nvPr/>
        </p:nvSpPr>
        <p:spPr>
          <a:xfrm>
            <a:off x="4572100" y="1310525"/>
            <a:ext cx="3987300" cy="35019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1"/>
          <p:cNvSpPr/>
          <p:nvPr/>
        </p:nvSpPr>
        <p:spPr>
          <a:xfrm>
            <a:off x="584800" y="1310525"/>
            <a:ext cx="3987300" cy="35019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1"/>
          <p:cNvSpPr txBox="1"/>
          <p:nvPr>
            <p:ph type="title"/>
          </p:nvPr>
        </p:nvSpPr>
        <p:spPr>
          <a:xfrm>
            <a:off x="1764325" y="487475"/>
            <a:ext cx="5321700" cy="7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"/>
              <a:t>Alcance y limitaciones</a:t>
            </a:r>
            <a:endParaRPr/>
          </a:p>
        </p:txBody>
      </p:sp>
      <p:sp>
        <p:nvSpPr>
          <p:cNvPr id="212" name="Google Shape;212;p11"/>
          <p:cNvSpPr txBox="1"/>
          <p:nvPr/>
        </p:nvSpPr>
        <p:spPr>
          <a:xfrm>
            <a:off x="495475" y="1494300"/>
            <a:ext cx="3546900" cy="24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b="0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Registro de información  (vivienda, integrante, material peligroso y/o mascotas) y asignación de comuna por coordenadas.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b="0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Visualización de información de residencia e integrantes.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b="0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Desarrollo de dos app móvil interconectadas.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b="0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Módulo de manejo y gestión de grifos.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b="0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Desarrollo de web admin.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b="0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Bajo tiempo de respuesta.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b="0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Incluye servidor.</a:t>
            </a:r>
            <a:endParaRPr b="0" i="0" sz="12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1"/>
          <p:cNvSpPr txBox="1"/>
          <p:nvPr/>
        </p:nvSpPr>
        <p:spPr>
          <a:xfrm>
            <a:off x="4647975" y="1494300"/>
            <a:ext cx="3790800" cy="26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b="0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es para mensajería/ comunicación.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b="0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hay reporte de incendios o accidentes.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b="0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es para rutas.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b="0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Solo permite ingresar viviendas en territorio de Chile.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b="0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Los usuarios no pueden ver ni manipular información más allá de la suya como grupo familiar, ni utilizar app/vista de bombeos.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b="0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Limitación en costos debido a la funcionalidad de bomberos.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b="0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Bomberos trabaja con tablets.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b="0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Bomberos es quien gestiona y entrega acceso a la app.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4" name="Google Shape;214;p11" title="1030899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78675" y="4121088"/>
            <a:ext cx="587575" cy="587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11" title="6325028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22225" y="3971700"/>
            <a:ext cx="744300" cy="74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4"/>
          <p:cNvSpPr/>
          <p:nvPr/>
        </p:nvSpPr>
        <p:spPr>
          <a:xfrm>
            <a:off x="6184350" y="1911875"/>
            <a:ext cx="2371800" cy="25296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4"/>
          <p:cNvSpPr/>
          <p:nvPr/>
        </p:nvSpPr>
        <p:spPr>
          <a:xfrm>
            <a:off x="3386100" y="1911875"/>
            <a:ext cx="2371800" cy="25296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4"/>
          <p:cNvSpPr/>
          <p:nvPr/>
        </p:nvSpPr>
        <p:spPr>
          <a:xfrm>
            <a:off x="489375" y="1911875"/>
            <a:ext cx="2371800" cy="25296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4"/>
          <p:cNvSpPr txBox="1"/>
          <p:nvPr>
            <p:ph type="title"/>
          </p:nvPr>
        </p:nvSpPr>
        <p:spPr>
          <a:xfrm>
            <a:off x="1650950" y="480750"/>
            <a:ext cx="5321700" cy="74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"/>
              <a:t>Desarrollo</a:t>
            </a:r>
            <a:endParaRPr/>
          </a:p>
        </p:txBody>
      </p:sp>
      <p:pic>
        <p:nvPicPr>
          <p:cNvPr id="224" name="Google Shape;224;p14"/>
          <p:cNvPicPr preferRelativeResize="0"/>
          <p:nvPr/>
        </p:nvPicPr>
        <p:blipFill rotWithShape="1">
          <a:blip r:embed="rId3">
            <a:alphaModFix/>
          </a:blip>
          <a:srcRect b="35831" l="0" r="0" t="37508"/>
          <a:stretch/>
        </p:blipFill>
        <p:spPr>
          <a:xfrm>
            <a:off x="6531225" y="2226138"/>
            <a:ext cx="1678013" cy="44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14"/>
          <p:cNvPicPr preferRelativeResize="0"/>
          <p:nvPr/>
        </p:nvPicPr>
        <p:blipFill rotWithShape="1">
          <a:blip r:embed="rId4">
            <a:alphaModFix/>
          </a:blip>
          <a:srcRect b="37101" l="11364" r="8495" t="37096"/>
          <a:stretch/>
        </p:blipFill>
        <p:spPr>
          <a:xfrm>
            <a:off x="980303" y="2226150"/>
            <a:ext cx="1389647" cy="447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14"/>
          <p:cNvPicPr preferRelativeResize="0"/>
          <p:nvPr/>
        </p:nvPicPr>
        <p:blipFill rotWithShape="1">
          <a:blip r:embed="rId5">
            <a:alphaModFix/>
          </a:blip>
          <a:srcRect b="7002" l="3030" r="2568" t="7506"/>
          <a:stretch/>
        </p:blipFill>
        <p:spPr>
          <a:xfrm>
            <a:off x="729498" y="2933963"/>
            <a:ext cx="1891275" cy="68515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885225" y="2933977"/>
            <a:ext cx="1480424" cy="378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14"/>
          <p:cNvPicPr preferRelativeResize="0"/>
          <p:nvPr/>
        </p:nvPicPr>
        <p:blipFill rotWithShape="1">
          <a:blip r:embed="rId7">
            <a:alphaModFix/>
          </a:blip>
          <a:srcRect b="29618" l="0" r="0" t="27791"/>
          <a:stretch/>
        </p:blipFill>
        <p:spPr>
          <a:xfrm>
            <a:off x="3930612" y="3572713"/>
            <a:ext cx="1389650" cy="5918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14" title="Python-logo.png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854185" y="2226149"/>
            <a:ext cx="1542513" cy="447392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14"/>
          <p:cNvSpPr txBox="1"/>
          <p:nvPr>
            <p:ph type="title"/>
          </p:nvPr>
        </p:nvSpPr>
        <p:spPr>
          <a:xfrm>
            <a:off x="489225" y="1464575"/>
            <a:ext cx="2371800" cy="447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1880"/>
              <a:t>Front </a:t>
            </a:r>
            <a:endParaRPr sz="1880"/>
          </a:p>
        </p:txBody>
      </p:sp>
      <p:sp>
        <p:nvSpPr>
          <p:cNvPr id="231" name="Google Shape;231;p14"/>
          <p:cNvSpPr txBox="1"/>
          <p:nvPr>
            <p:ph type="title"/>
          </p:nvPr>
        </p:nvSpPr>
        <p:spPr>
          <a:xfrm>
            <a:off x="6184338" y="1464575"/>
            <a:ext cx="2371800" cy="447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1880"/>
              <a:t>Base de datos</a:t>
            </a:r>
            <a:endParaRPr sz="1880"/>
          </a:p>
        </p:txBody>
      </p:sp>
      <p:sp>
        <p:nvSpPr>
          <p:cNvPr id="232" name="Google Shape;232;p14"/>
          <p:cNvSpPr txBox="1"/>
          <p:nvPr>
            <p:ph type="title"/>
          </p:nvPr>
        </p:nvSpPr>
        <p:spPr>
          <a:xfrm>
            <a:off x="3386100" y="1464575"/>
            <a:ext cx="2371800" cy="447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1880"/>
              <a:t>Api/Servidor</a:t>
            </a:r>
            <a:endParaRPr sz="1880"/>
          </a:p>
        </p:txBody>
      </p:sp>
      <p:pic>
        <p:nvPicPr>
          <p:cNvPr id="233" name="Google Shape;233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23217" y="2846425"/>
            <a:ext cx="1318075" cy="13181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5"/>
          <p:cNvSpPr/>
          <p:nvPr/>
        </p:nvSpPr>
        <p:spPr>
          <a:xfrm>
            <a:off x="814038" y="2206225"/>
            <a:ext cx="2493000" cy="17748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5"/>
          <p:cNvSpPr txBox="1"/>
          <p:nvPr>
            <p:ph type="title"/>
          </p:nvPr>
        </p:nvSpPr>
        <p:spPr>
          <a:xfrm>
            <a:off x="632400" y="523050"/>
            <a:ext cx="5321700" cy="74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"/>
              <a:t>Tecnologías</a:t>
            </a:r>
            <a:endParaRPr/>
          </a:p>
        </p:txBody>
      </p:sp>
      <p:sp>
        <p:nvSpPr>
          <p:cNvPr id="240" name="Google Shape;240;p15"/>
          <p:cNvSpPr txBox="1"/>
          <p:nvPr/>
        </p:nvSpPr>
        <p:spPr>
          <a:xfrm>
            <a:off x="986988" y="2355600"/>
            <a:ext cx="2147100" cy="14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Dart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Python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PostgreSQL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GIT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1" name="Google Shape;241;p15" title="0_epnKnkKuLx2RAajt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04788" y="3117377"/>
            <a:ext cx="1881499" cy="863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15" title="Python-log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22913" y="2005975"/>
            <a:ext cx="2007040" cy="582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15" title="1_MJorFEcywZWHfcb3mkgIQw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04775" y="1842325"/>
            <a:ext cx="1620376" cy="909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47038" y="2869800"/>
            <a:ext cx="1358800" cy="135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6"/>
          <p:cNvSpPr/>
          <p:nvPr/>
        </p:nvSpPr>
        <p:spPr>
          <a:xfrm>
            <a:off x="629175" y="1903250"/>
            <a:ext cx="2493000" cy="25428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6"/>
          <p:cNvSpPr txBox="1"/>
          <p:nvPr>
            <p:ph type="title"/>
          </p:nvPr>
        </p:nvSpPr>
        <p:spPr>
          <a:xfrm>
            <a:off x="629175" y="530075"/>
            <a:ext cx="5321700" cy="74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"/>
              <a:t>Herramientas</a:t>
            </a:r>
            <a:endParaRPr/>
          </a:p>
        </p:txBody>
      </p:sp>
      <p:sp>
        <p:nvSpPr>
          <p:cNvPr id="251" name="Google Shape;251;p16"/>
          <p:cNvSpPr txBox="1"/>
          <p:nvPr/>
        </p:nvSpPr>
        <p:spPr>
          <a:xfrm>
            <a:off x="802125" y="2052625"/>
            <a:ext cx="2147100" cy="149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Flutter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Flask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Shapely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SupaBase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PostGIS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Google Maps P.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</a:pPr>
            <a:r>
              <a:rPr b="0" i="0" lang="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GitKraken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2" name="Google Shape;25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79700" y="2779900"/>
            <a:ext cx="1732323" cy="442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16"/>
          <p:cNvPicPr preferRelativeResize="0"/>
          <p:nvPr/>
        </p:nvPicPr>
        <p:blipFill rotWithShape="1">
          <a:blip r:embed="rId4">
            <a:alphaModFix/>
          </a:blip>
          <a:srcRect b="35831" l="0" r="0" t="37508"/>
          <a:stretch/>
        </p:blipFill>
        <p:spPr>
          <a:xfrm>
            <a:off x="5270277" y="1903250"/>
            <a:ext cx="1831998" cy="488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02555" y="1873450"/>
            <a:ext cx="1318075" cy="131814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16"/>
          <p:cNvPicPr preferRelativeResize="0"/>
          <p:nvPr/>
        </p:nvPicPr>
        <p:blipFill rotWithShape="1">
          <a:blip r:embed="rId6">
            <a:alphaModFix/>
          </a:blip>
          <a:srcRect b="7002" l="3030" r="2568" t="7506"/>
          <a:stretch/>
        </p:blipFill>
        <p:spPr>
          <a:xfrm>
            <a:off x="3771400" y="3473625"/>
            <a:ext cx="2493000" cy="90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708057" y="3379375"/>
            <a:ext cx="1318067" cy="88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16"/>
          <p:cNvPicPr preferRelativeResize="0"/>
          <p:nvPr/>
        </p:nvPicPr>
        <p:blipFill rotWithShape="1">
          <a:blip r:embed="rId8">
            <a:alphaModFix/>
          </a:blip>
          <a:srcRect b="29618" l="0" r="0" t="27791"/>
          <a:stretch/>
        </p:blipFill>
        <p:spPr>
          <a:xfrm>
            <a:off x="3448525" y="2711002"/>
            <a:ext cx="1569275" cy="66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16"/>
          <p:cNvPicPr preferRelativeResize="0"/>
          <p:nvPr/>
        </p:nvPicPr>
        <p:blipFill rotWithShape="1">
          <a:blip r:embed="rId9">
            <a:alphaModFix/>
          </a:blip>
          <a:srcRect b="37101" l="11364" r="8495" t="37096"/>
          <a:stretch/>
        </p:blipFill>
        <p:spPr>
          <a:xfrm>
            <a:off x="3500650" y="1903250"/>
            <a:ext cx="1517150" cy="488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2"/>
          <p:cNvSpPr/>
          <p:nvPr/>
        </p:nvSpPr>
        <p:spPr>
          <a:xfrm>
            <a:off x="4572000" y="1310525"/>
            <a:ext cx="4135200" cy="3358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2"/>
          <p:cNvSpPr/>
          <p:nvPr/>
        </p:nvSpPr>
        <p:spPr>
          <a:xfrm>
            <a:off x="436850" y="1310525"/>
            <a:ext cx="4135200" cy="33582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2"/>
          <p:cNvSpPr txBox="1"/>
          <p:nvPr>
            <p:ph idx="4294967295" type="title"/>
          </p:nvPr>
        </p:nvSpPr>
        <p:spPr>
          <a:xfrm>
            <a:off x="1911150" y="503200"/>
            <a:ext cx="5321700" cy="7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Metodología</a:t>
            </a:r>
            <a:endParaRPr/>
          </a:p>
        </p:txBody>
      </p:sp>
      <p:sp>
        <p:nvSpPr>
          <p:cNvPr id="266" name="Google Shape;266;p12"/>
          <p:cNvSpPr/>
          <p:nvPr/>
        </p:nvSpPr>
        <p:spPr>
          <a:xfrm>
            <a:off x="436850" y="2120825"/>
            <a:ext cx="4135200" cy="12963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2"/>
          <p:cNvSpPr txBox="1"/>
          <p:nvPr/>
        </p:nvSpPr>
        <p:spPr>
          <a:xfrm>
            <a:off x="479750" y="1392050"/>
            <a:ext cx="3507600" cy="33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Metodología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Agil, Scrum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Ventaja: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Permite realizar entregas parciales e iterativas, facilitando la validación temprana del sistema. Además, ofrece una alta capacidad de adaptación a cambios y prioriza la entrega de valor en cada iteración.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Desventaja: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Requiere compromiso de stakeholders para participar en revisiones y retrospectivas, lo que puede generar confusión, demoras innecesarias o tiempos muertos.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2"/>
          <p:cNvSpPr txBox="1"/>
          <p:nvPr/>
        </p:nvSpPr>
        <p:spPr>
          <a:xfrm>
            <a:off x="4695225" y="1454900"/>
            <a:ext cx="39246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Porqué: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just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b="0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Permite desarrollar y entregar funcionalidades clave en fases, priorizando lo más importante (registro de viviendas, información para bomberos).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b="0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Incorpora feedback por iteración, garantizando que el sistema responda a las necesidades reales de bomberos y residentes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</a:pPr>
            <a:r>
              <a:rPr b="0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Minimiza riesgos y costos, asegurando un producto útil aun si el alcance debe ajustarse.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2100" lvl="0" marL="4572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Calibri"/>
              <a:buChar char="●"/>
            </a:pPr>
            <a:r>
              <a:rPr b="0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Favorece la colaboración constante, algo crucial para un sistema que involucra varias entidades (comunidades, bomberos, desarrolladores)</a:t>
            </a:r>
            <a:r>
              <a:rPr b="1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3"/>
          <p:cNvSpPr txBox="1"/>
          <p:nvPr>
            <p:ph idx="4294967295" type="title"/>
          </p:nvPr>
        </p:nvSpPr>
        <p:spPr>
          <a:xfrm>
            <a:off x="1911150" y="191900"/>
            <a:ext cx="5321700" cy="7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"/>
              <a:t>Equipo/Roles</a:t>
            </a:r>
            <a:endParaRPr/>
          </a:p>
        </p:txBody>
      </p:sp>
      <p:graphicFrame>
        <p:nvGraphicFramePr>
          <p:cNvPr id="274" name="Google Shape;274;p13"/>
          <p:cNvGraphicFramePr/>
          <p:nvPr/>
        </p:nvGraphicFramePr>
        <p:xfrm>
          <a:off x="570450" y="815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{4D4FB929-DAA8-4586-A3F1-F62DD5586048}</a:tableStyleId>
              </a:tblPr>
              <a:tblGrid>
                <a:gridCol w="2514400"/>
                <a:gridCol w="1663000"/>
                <a:gridCol w="385400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" sz="1200" u="none" cap="none" strike="noStrike"/>
                        <a:t>Integrante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" sz="1200" u="none" cap="none" strike="noStrike"/>
                        <a:t>Rol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" sz="1200" u="none" cap="none" strike="noStrike"/>
                        <a:t>Función </a:t>
                      </a:r>
                      <a:endParaRPr b="1" sz="1200" u="none" cap="none" strike="noStrike"/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cap="none" strike="noStrike"/>
                        <a:t>Kevin Fierro Cantero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cap="none" strike="noStrike"/>
                        <a:t>Scrum Master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cap="none" strike="noStrike"/>
                        <a:t>Gestiona el proceso Scrum, organiza sprints y desarrolla el sistema.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cap="none" strike="noStrike"/>
                        <a:t>José Montenegro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cap="none" strike="noStrike"/>
                        <a:t>Equipo Dev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cap="none" strike="noStrike"/>
                        <a:t>Implementa funcionalidades, participa en estimaciones y desarrollo.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cap="none" strike="noStrike"/>
                        <a:t>Katherine Cespedes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cap="none" strike="noStrike"/>
                        <a:t>Equipo Dev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cap="none" strike="noStrike"/>
                        <a:t>Implementa funcionalidades, participa en estimaciones y desarrollo.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cap="none" strike="noStrike"/>
                        <a:t>Profesores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cap="none" strike="noStrike"/>
                        <a:t>Product Owner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cap="none" strike="noStrike"/>
                        <a:t>Define requerimientos, prioriza backlog y valida funcionalidades.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cap="none" strike="noStrike"/>
                        <a:t>Profesores + Voluntarios de Bomberos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cap="none" strike="noStrike"/>
                        <a:t>Stakeholders 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cap="none" strike="noStrike"/>
                        <a:t>Evalúan el proyecto, entregan feedback y validación académica/estratégica.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cap="none" strike="noStrike"/>
                        <a:t>Junta Nacional de Cuerpos de Bomberos de Chile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cap="none" strike="noStrike"/>
                        <a:t>Sponsor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cap="none" strike="noStrike"/>
                        <a:t>Financia y respalda el proyecto.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cap="none" strike="noStrike"/>
                        <a:t>Voluntarios de Bomberos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cap="none" strike="noStrike"/>
                        <a:t>End Users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cap="none" strike="noStrike"/>
                        <a:t>Usan la aplicación en contexto operativo.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cap="none" strike="noStrike"/>
                        <a:t>Ciudadanos / residentes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cap="none" strike="noStrike"/>
                        <a:t>End Users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cap="none" strike="noStrike"/>
                        <a:t>Usan la aplicación para registrar información.</a:t>
                      </a:r>
                      <a:endParaRPr sz="1000" u="none" cap="none" strike="noStrike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7"/>
          <p:cNvSpPr txBox="1"/>
          <p:nvPr>
            <p:ph type="title"/>
          </p:nvPr>
        </p:nvSpPr>
        <p:spPr>
          <a:xfrm>
            <a:off x="2673150" y="445500"/>
            <a:ext cx="3797700" cy="7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Organización temporal</a:t>
            </a:r>
            <a:endParaRPr/>
          </a:p>
        </p:txBody>
      </p:sp>
      <p:pic>
        <p:nvPicPr>
          <p:cNvPr id="280" name="Google Shape;28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0613" y="2962650"/>
            <a:ext cx="5605625" cy="10819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81" name="Google Shape;281;p17"/>
          <p:cNvGraphicFramePr/>
          <p:nvPr/>
        </p:nvGraphicFramePr>
        <p:xfrm>
          <a:off x="1650550" y="1467375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{737A1CDC-EAFA-427D-8046-3931621206BA}</a:tableStyleId>
              </a:tblPr>
              <a:tblGrid>
                <a:gridCol w="537200"/>
                <a:gridCol w="3928750"/>
                <a:gridCol w="1139825"/>
              </a:tblGrid>
              <a:tr h="1270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" sz="1000" u="none" cap="none" strike="noStrike"/>
                        <a:t>ID</a:t>
                      </a:r>
                      <a:endParaRPr b="1" sz="1000" u="none" cap="none" strike="noStrike"/>
                    </a:p>
                  </a:txBody>
                  <a:tcPr marT="0" marB="0" marR="68575" marL="68575"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" sz="1000" u="none" cap="none" strike="noStrike"/>
                        <a:t>Épica</a:t>
                      </a:r>
                      <a:endParaRPr b="1" sz="1000" u="none" cap="none" strike="noStrike"/>
                    </a:p>
                  </a:txBody>
                  <a:tcPr marT="0" marB="0" marR="68575" marL="68575"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1" lang="es" sz="1000" u="none" cap="none" strike="noStrike"/>
                        <a:t>Priorización</a:t>
                      </a:r>
                      <a:endParaRPr b="1" sz="1000" u="none" cap="none" strike="noStrike"/>
                    </a:p>
                  </a:txBody>
                  <a:tcPr marT="0" marB="0" marR="68575" marL="68575">
                    <a:solidFill>
                      <a:srgbClr val="C6D9F1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cap="none" strike="noStrike"/>
                        <a:t>01</a:t>
                      </a:r>
                      <a:endParaRPr sz="1000" u="none" cap="none" strike="noStrike"/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cap="none" strike="noStrike"/>
                        <a:t>Gestión de residentes, viviendas y mascotas (App Usuarios)</a:t>
                      </a:r>
                      <a:endParaRPr sz="1000" u="none" cap="none" strike="noStrike"/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cap="none" strike="noStrike"/>
                        <a:t>Must Have</a:t>
                      </a:r>
                      <a:endParaRPr sz="1000" u="none" cap="none" strike="noStrike"/>
                    </a:p>
                  </a:txBody>
                  <a:tcPr marT="0" marB="0" marR="68575" marL="68575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cap="none" strike="noStrike"/>
                        <a:t>02</a:t>
                      </a:r>
                      <a:endParaRPr sz="1000" u="none" cap="none" strike="noStrike"/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cap="none" strike="noStrike"/>
                        <a:t>Consulta y visualización de emergencias (App Bomberos)</a:t>
                      </a:r>
                      <a:endParaRPr sz="1000" u="none" cap="none" strike="noStrike"/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cap="none" strike="noStrike"/>
                        <a:t>Must Have</a:t>
                      </a:r>
                      <a:endParaRPr sz="1000" u="none" cap="none" strike="noStrike"/>
                    </a:p>
                  </a:txBody>
                  <a:tcPr marT="0" marB="0" marR="68575" marL="68575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cap="none" strike="noStrike"/>
                        <a:t>04</a:t>
                      </a:r>
                      <a:endParaRPr sz="1000" u="none" cap="none" strike="noStrike"/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cap="none" strike="noStrike"/>
                        <a:t>Administración y gestión general  (Web Admin)</a:t>
                      </a:r>
                      <a:endParaRPr sz="1000" u="none" cap="none" strike="noStrike"/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cap="none" strike="noStrike"/>
                        <a:t>Must Have</a:t>
                      </a:r>
                      <a:endParaRPr sz="1000" u="none" cap="none" strike="noStrike"/>
                    </a:p>
                  </a:txBody>
                  <a:tcPr marT="0" marB="0" marR="68575" marL="68575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cap="none" strike="noStrike"/>
                        <a:t>03</a:t>
                      </a:r>
                      <a:endParaRPr sz="1000" u="none" cap="none" strike="noStrike"/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cap="none" strike="noStrike"/>
                        <a:t>Módulo de grifos (App Bomberos)</a:t>
                      </a:r>
                      <a:endParaRPr sz="1000" u="none" cap="none" strike="noStrike"/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just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s" sz="1000" u="none" cap="none" strike="noStrike"/>
                        <a:t>Should Have</a:t>
                      </a:r>
                      <a:endParaRPr sz="1000" u="none" cap="none" strike="noStrike"/>
                    </a:p>
                  </a:txBody>
                  <a:tcPr marT="0" marB="0" marR="68575" marL="68575"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8"/>
          <p:cNvSpPr txBox="1"/>
          <p:nvPr>
            <p:ph type="title"/>
          </p:nvPr>
        </p:nvSpPr>
        <p:spPr>
          <a:xfrm>
            <a:off x="2673150" y="396175"/>
            <a:ext cx="3797700" cy="7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"/>
              <a:t>Sprint 1</a:t>
            </a:r>
            <a:endParaRPr/>
          </a:p>
        </p:txBody>
      </p:sp>
      <p:pic>
        <p:nvPicPr>
          <p:cNvPr id="287" name="Google Shape;287;p18" title="Captura de pantalla 2026-04-12 223643.png"/>
          <p:cNvPicPr preferRelativeResize="0"/>
          <p:nvPr/>
        </p:nvPicPr>
        <p:blipFill rotWithShape="1">
          <a:blip r:embed="rId3">
            <a:alphaModFix/>
          </a:blip>
          <a:srcRect b="16507" l="0" r="0" t="0"/>
          <a:stretch/>
        </p:blipFill>
        <p:spPr>
          <a:xfrm>
            <a:off x="622575" y="2993725"/>
            <a:ext cx="4341100" cy="1488775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18"/>
          <p:cNvSpPr txBox="1"/>
          <p:nvPr/>
        </p:nvSpPr>
        <p:spPr>
          <a:xfrm>
            <a:off x="622575" y="1082450"/>
            <a:ext cx="3473700" cy="238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Cobertura S1: 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FASE 0: </a:t>
            </a:r>
            <a:r>
              <a:rPr b="1" i="0" lang="e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Infraestructura y arquitectura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Configuración del sistema: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b="0" i="0" lang="e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Arquitectura, base de datos, API, autenticación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b="0" i="0" lang="e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Integración con mapas y geolocalización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000"/>
              <a:buFont typeface="Arial"/>
              <a:buNone/>
            </a:pPr>
            <a:br>
              <a:rPr b="1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8"/>
          <p:cNvSpPr txBox="1"/>
          <p:nvPr/>
        </p:nvSpPr>
        <p:spPr>
          <a:xfrm>
            <a:off x="5101050" y="1443275"/>
            <a:ext cx="3587100" cy="3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EPICA 1: App Usuarios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Gestión de usuario residente: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b="0" i="0" lang="e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Registro e inicio de sesión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Gestión de vivienda: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b="0" i="0" lang="e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Registro con mapa y coordenadas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b="0" i="0" lang="e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Asignación automática de comuna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b="0" i="0" lang="e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Edición y eliminación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Información crítica: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b="0" i="0" lang="e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Materiales peligrosos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b="0" i="0" lang="e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Integrantes del hogar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b="0" i="0" lang="e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Mascotas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Visualización: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b="0" i="0" lang="e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Vista completa de la vivienda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b="0" i="0" lang="e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Alertas de riesgo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9"/>
          <p:cNvSpPr txBox="1"/>
          <p:nvPr>
            <p:ph type="title"/>
          </p:nvPr>
        </p:nvSpPr>
        <p:spPr>
          <a:xfrm>
            <a:off x="2673150" y="396175"/>
            <a:ext cx="3797700" cy="7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"/>
              <a:t>Sprint 2</a:t>
            </a:r>
            <a:endParaRPr/>
          </a:p>
        </p:txBody>
      </p:sp>
      <p:sp>
        <p:nvSpPr>
          <p:cNvPr id="295" name="Google Shape;295;p19"/>
          <p:cNvSpPr txBox="1"/>
          <p:nvPr/>
        </p:nvSpPr>
        <p:spPr>
          <a:xfrm>
            <a:off x="587225" y="1001100"/>
            <a:ext cx="3947700" cy="22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Cobertura S1: 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EPICA 2: App Bomberos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Funcionalidades bomberos: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b="0" i="0" lang="e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Configurar comuna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b="0" i="0" lang="e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Buscar viviendas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b="0" i="0" lang="e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Ver información completa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Mapa y análisis: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b="0" i="0" lang="e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Ubicación de viviendas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b="0" i="0" lang="e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Centros de riesgo cercanos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9"/>
          <p:cNvSpPr txBox="1"/>
          <p:nvPr/>
        </p:nvSpPr>
        <p:spPr>
          <a:xfrm>
            <a:off x="4973700" y="1392300"/>
            <a:ext cx="3855900" cy="34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EPICA 3: Módulo de grifos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Módulo de grifos: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b="0" i="0" lang="e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CRUD de grifos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b="0" i="0" lang="e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Visualización en mapa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b="0" i="0" lang="e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Grifos más cercanos (Top 3)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Filtros: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b="0" i="0" lang="e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Por comuna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b="0" i="0" lang="e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Por estado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b="0" i="0" lang="e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Combinados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s" sz="1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EPICA 4: Web Admin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0" i="0" lang="e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Administración: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b="0" i="0" lang="e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Gestión de usuarios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b="0" i="0" lang="e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Visualización del sistema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</a:pPr>
            <a:r>
              <a:rPr b="0" i="0" lang="e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Gestión de roles</a:t>
            </a:r>
            <a:endParaRPr b="1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7" name="Google Shape;29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7225" y="3241800"/>
            <a:ext cx="4216675" cy="159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0"/>
          <p:cNvSpPr txBox="1"/>
          <p:nvPr>
            <p:ph type="title"/>
          </p:nvPr>
        </p:nvSpPr>
        <p:spPr>
          <a:xfrm>
            <a:off x="2673150" y="396175"/>
            <a:ext cx="3797700" cy="7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"/>
              <a:t>Sprints</a:t>
            </a:r>
            <a:endParaRPr/>
          </a:p>
        </p:txBody>
      </p:sp>
      <p:pic>
        <p:nvPicPr>
          <p:cNvPr id="303" name="Google Shape;303;p20" title="Captura de pantalla 2026-04-12 223643.png"/>
          <p:cNvPicPr preferRelativeResize="0"/>
          <p:nvPr/>
        </p:nvPicPr>
        <p:blipFill rotWithShape="1">
          <a:blip r:embed="rId3">
            <a:alphaModFix/>
          </a:blip>
          <a:srcRect b="16507" l="0" r="0" t="0"/>
          <a:stretch/>
        </p:blipFill>
        <p:spPr>
          <a:xfrm>
            <a:off x="370825" y="1140475"/>
            <a:ext cx="5082725" cy="1743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0825" y="2846550"/>
            <a:ext cx="5082725" cy="191701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605950" y="1292875"/>
            <a:ext cx="3143250" cy="280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1"/>
          <p:cNvSpPr txBox="1"/>
          <p:nvPr>
            <p:ph type="title"/>
          </p:nvPr>
        </p:nvSpPr>
        <p:spPr>
          <a:xfrm>
            <a:off x="647550" y="656075"/>
            <a:ext cx="5321700" cy="74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s"/>
              <a:t>COMENTARIO FINAL</a:t>
            </a:r>
            <a:endParaRPr/>
          </a:p>
        </p:txBody>
      </p:sp>
      <p:pic>
        <p:nvPicPr>
          <p:cNvPr id="311" name="Google Shape;311;p21" title="18252029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76350" y="1948775"/>
            <a:ext cx="2103625" cy="210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