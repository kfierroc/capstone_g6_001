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6858000" cy="9144000"/>
  <p:embeddedFontLst>
    <p:embeddedFont>
      <p:font typeface="Nunito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FE82B3F-215E-4684-AAA0-842BA3B2CA3A}">
  <a:tblStyle styleId="{2FE82B3F-215E-4684-AAA0-842BA3B2CA3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F0FC12AD-ED36-471A-8AC6-4B1F6A9D75A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Nunito-regular.fnt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Nunito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Nunito-boldItalic.fntdata"/><Relationship Id="rId30" Type="http://schemas.openxmlformats.org/officeDocument/2006/relationships/font" Target="fonts/Nunit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722f22f8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722f22f8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52e0d6aca_0_4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52e0d6aca_0_4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2e0d6aca_0_4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2e0d6aca_0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722f22f8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9722f22f8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722f22f8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722f22f8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7262acacc_1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7262acacc_1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9722f22f86_0_2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9722f22f86_0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52e0d6aca_0_4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d52e0d6aca_0_4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d52e0d6aca_0_4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d52e0d6aca_0_4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e367742f3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e367742f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e367742f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de367742f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97262acacc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97262acacc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9722f22f86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9722f22f86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de367742f3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de367742f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9722f22f86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9722f22f8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9722f22f86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9722f22f86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97262acac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97262acac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7262acac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7262acac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9722f22f86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9722f22f86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de367742f3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de367742f3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9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15.png"/><Relationship Id="rId7" Type="http://schemas.openxmlformats.org/officeDocument/2006/relationships/image" Target="../media/image2.png"/><Relationship Id="rId8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Relationship Id="rId4" Type="http://schemas.openxmlformats.org/officeDocument/2006/relationships/image" Target="../media/image10.png"/><Relationship Id="rId5" Type="http://schemas.openxmlformats.org/officeDocument/2006/relationships/image" Target="../media/image20.png"/><Relationship Id="rId6" Type="http://schemas.openxmlformats.org/officeDocument/2006/relationships/image" Target="../media/image2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9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4.png"/><Relationship Id="rId7" Type="http://schemas.openxmlformats.org/officeDocument/2006/relationships/image" Target="../media/image17.png"/><Relationship Id="rId8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Relationship Id="rId4" Type="http://schemas.openxmlformats.org/officeDocument/2006/relationships/image" Target="../media/image22.png"/><Relationship Id="rId5" Type="http://schemas.openxmlformats.org/officeDocument/2006/relationships/image" Target="../media/image2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idx="1" type="subTitle"/>
          </p:nvPr>
        </p:nvSpPr>
        <p:spPr>
          <a:xfrm>
            <a:off x="2704650" y="2667000"/>
            <a:ext cx="3734700" cy="124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Integrantes: 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Kevin Fierro Cantero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José Manuel Montenegro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Katherine Céspedes Céspedes</a:t>
            </a:r>
            <a:endParaRPr sz="13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1891350" y="1315125"/>
            <a:ext cx="5361300" cy="8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>
                <a:solidFill>
                  <a:schemeClr val="dk2"/>
                </a:solidFill>
              </a:rPr>
              <a:t>   FireData</a:t>
            </a:r>
            <a:endParaRPr sz="7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3149850" y="433075"/>
            <a:ext cx="28443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Contexto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519000" y="1643725"/>
            <a:ext cx="4053000" cy="28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En situaciones de emergencia como incendios, terremotos o evacuaciones, los equipos de bomberos deben actuar rápidamente para salvar vidas. Sin embargo, en la práctica, muchas de sus decisiones se toman en condiciones de alta incertidumbre.</a:t>
            </a:r>
            <a:endParaRPr b="1" sz="100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Esto provoca que, en muchas ocasiones, deban improvisar en terreno, adaptándose a un escenario desconocido, lo que aumenta los riesgos tanto para los residentes como para los propios voluntarios.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136" name="Google Shape;136;p14"/>
          <p:cNvPicPr preferRelativeResize="0"/>
          <p:nvPr/>
        </p:nvPicPr>
        <p:blipFill rotWithShape="1">
          <a:blip r:embed="rId3">
            <a:alphaModFix/>
          </a:blip>
          <a:srcRect b="10412" l="0" r="0" t="6157"/>
          <a:stretch/>
        </p:blipFill>
        <p:spPr>
          <a:xfrm>
            <a:off x="5183150" y="2899335"/>
            <a:ext cx="3061252" cy="177666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7" name="Google Shape;13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3150" y="1177377"/>
            <a:ext cx="3061240" cy="172194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"/>
          <p:cNvSpPr txBox="1"/>
          <p:nvPr>
            <p:ph type="title"/>
          </p:nvPr>
        </p:nvSpPr>
        <p:spPr>
          <a:xfrm>
            <a:off x="3069850" y="679675"/>
            <a:ext cx="28443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Problemática</a:t>
            </a:r>
            <a:r>
              <a:rPr lang="es"/>
              <a:t> 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519000" y="1678950"/>
            <a:ext cx="5230500" cy="28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El principal problema radica en la falta de información crítica y estructurada antes de que los equipos de bomberos lleguen a una emergencia.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Actualmente, no es posible conocer con anticipación cuántas personas se encuentran en una vivienda, si existen personas con condiciones especiales, la presencia de mascotas o incluso la existencia de materiales peligrosos en el lugar.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Esto provoca que los equipos de emergencia deban improvisar las decisiones en terreno, afectando negativamente la eficiencia, seguridad y efectividad de la respuesta, generando a su vez demoras críticas en situaciones donde el tiempo es un factor determinante.</a:t>
            </a:r>
            <a:endParaRPr sz="1000"/>
          </a:p>
        </p:txBody>
      </p:sp>
      <p:pic>
        <p:nvPicPr>
          <p:cNvPr id="144" name="Google Shape;144;p15" title="7efbd4631ac4b04d5541a6bef759041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9450" y="1544925"/>
            <a:ext cx="2479651" cy="247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"/>
          <p:cNvSpPr txBox="1"/>
          <p:nvPr>
            <p:ph type="title"/>
          </p:nvPr>
        </p:nvSpPr>
        <p:spPr>
          <a:xfrm>
            <a:off x="591200" y="4799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Propuesta de solución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526925" y="1454950"/>
            <a:ext cx="7836600" cy="10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Frente a esta problemática proponemos el desarrollo de una herramienta tecnológica que permita registrar y acceder a información relevante de los domicilios y sus residentes durante una emergencia.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Además</a:t>
            </a:r>
            <a:r>
              <a:rPr b="1" lang="es" sz="1000"/>
              <a:t> se </a:t>
            </a:r>
            <a:r>
              <a:rPr b="1" lang="es" sz="1000"/>
              <a:t>implementará</a:t>
            </a:r>
            <a:r>
              <a:rPr b="1" lang="es" sz="1000"/>
              <a:t> un modulo para que bomberos pueda gestionar los grifos.</a:t>
            </a:r>
            <a:endParaRPr b="1" sz="100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Esta solución se llevará a cabo mediante el desarrollo de dos aplicaciones interconectadas: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lang="es" sz="1000"/>
            </a:br>
            <a:endParaRPr sz="1000"/>
          </a:p>
        </p:txBody>
      </p:sp>
      <p:pic>
        <p:nvPicPr>
          <p:cNvPr id="151" name="Google Shape;15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9750" y="3170638"/>
            <a:ext cx="1221550" cy="122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4038" y="3136312"/>
            <a:ext cx="1300975" cy="129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67025" y="3153475"/>
            <a:ext cx="1255876" cy="125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44100" y="3116125"/>
            <a:ext cx="1330575" cy="133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type="title"/>
          </p:nvPr>
        </p:nvSpPr>
        <p:spPr>
          <a:xfrm>
            <a:off x="647550" y="43060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App Residente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757025" y="1600325"/>
            <a:ext cx="4697700" cy="17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Aplicación para Usuarios:</a:t>
            </a:r>
            <a:r>
              <a:rPr lang="es" sz="1000"/>
              <a:t> </a:t>
            </a:r>
            <a:r>
              <a:rPr lang="es" sz="1000"/>
              <a:t>Permitirá a los residentes registrar información del hogar, incluyendo integrantes, condiciones especiales, mascotas, materiales peligrosos y características de la vivienda, con el fin de disponer de datos clave en caso de emergencia.</a:t>
            </a:r>
            <a:br>
              <a:rPr lang="es" sz="1000"/>
            </a:br>
            <a:endParaRPr sz="1000"/>
          </a:p>
        </p:txBody>
      </p:sp>
      <p:sp>
        <p:nvSpPr>
          <p:cNvPr id="161" name="Google Shape;161;p17"/>
          <p:cNvSpPr txBox="1"/>
          <p:nvPr/>
        </p:nvSpPr>
        <p:spPr>
          <a:xfrm>
            <a:off x="4797450" y="1454950"/>
            <a:ext cx="3374100" cy="17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8484" y="1769391"/>
            <a:ext cx="2229525" cy="2211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647550" y="2718425"/>
            <a:ext cx="48708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2100" lvl="0" marL="457200" rtl="0" algn="just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vivienda (ubicación, material, estado, pisos)</a:t>
            </a:r>
            <a:endParaRPr sz="1000"/>
          </a:p>
          <a:p>
            <a:pPr indent="-2921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integrantes del hogar y condiciones especiales</a:t>
            </a:r>
            <a:endParaRPr sz="1000"/>
          </a:p>
          <a:p>
            <a:pPr indent="-2921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mascotas (datos básicos para identificación)</a:t>
            </a:r>
            <a:endParaRPr sz="1000"/>
          </a:p>
          <a:p>
            <a:pPr indent="-2921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materiales peligrosos (gas, oxígeno, etc.)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>
            <p:ph type="title"/>
          </p:nvPr>
        </p:nvSpPr>
        <p:spPr>
          <a:xfrm>
            <a:off x="612325" y="4517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App Bomberos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505850" y="3738400"/>
            <a:ext cx="16854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70" name="Google Shape;170;p18"/>
          <p:cNvSpPr txBox="1"/>
          <p:nvPr/>
        </p:nvSpPr>
        <p:spPr>
          <a:xfrm>
            <a:off x="691550" y="1515125"/>
            <a:ext cx="4938300" cy="17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Aplicación para Bomberos:</a:t>
            </a:r>
            <a:r>
              <a:rPr lang="es" sz="1000"/>
              <a:t> </a:t>
            </a:r>
            <a:r>
              <a:rPr lang="es" sz="1000"/>
              <a:t>Permitirá a los bomberos buscar domicilios mediante dirección y acceder a información crítica previamente registrada por los residentes. Esto incluye datos sobre los ocupantes, condiciones especiales, materiales peligrosos y características de la vivienda.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71" name="Google Shape;17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5000" y="1761651"/>
            <a:ext cx="2146100" cy="214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612325" y="2713250"/>
            <a:ext cx="48921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Búsqueda de viviendas por dirección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de información completa del domicilio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Identificación de riesgos y condiciones de residentes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en mapa para ubicar rápidamente</a:t>
            </a:r>
            <a:endParaRPr b="1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 txBox="1"/>
          <p:nvPr>
            <p:ph type="title"/>
          </p:nvPr>
        </p:nvSpPr>
        <p:spPr>
          <a:xfrm>
            <a:off x="612325" y="4517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Modulo de Grifos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05850" y="3738400"/>
            <a:ext cx="16854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pic>
        <p:nvPicPr>
          <p:cNvPr id="179" name="Google Shape;17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1600" y="1855525"/>
            <a:ext cx="2227549" cy="2227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 txBox="1"/>
          <p:nvPr/>
        </p:nvSpPr>
        <p:spPr>
          <a:xfrm>
            <a:off x="505850" y="2089950"/>
            <a:ext cx="16854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81" name="Google Shape;181;p19"/>
          <p:cNvSpPr txBox="1"/>
          <p:nvPr/>
        </p:nvSpPr>
        <p:spPr>
          <a:xfrm>
            <a:off x="686275" y="1766850"/>
            <a:ext cx="4989900" cy="8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Modulo Grifos:</a:t>
            </a:r>
            <a:r>
              <a:rPr lang="es" sz="1000"/>
              <a:t> Un módulo adicional, incoporado dentro de App Bombero, enfocado en el registro de grifos de agua, el cual permitirá a los voluntarios registrar, visualizar y consultar grifos en un mapa, identificando su ubicación y estado.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686275" y="2766300"/>
            <a:ext cx="48291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Registro de grifos (ubicación y estado)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en mapa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Identificación de grifos más cercanos y operativos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Filtros por estado y/o comuna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 txBox="1"/>
          <p:nvPr>
            <p:ph type="title"/>
          </p:nvPr>
        </p:nvSpPr>
        <p:spPr>
          <a:xfrm>
            <a:off x="612325" y="4517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</a:t>
            </a:r>
            <a:r>
              <a:rPr lang="es"/>
              <a:t>eb Admin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576600" y="1854725"/>
            <a:ext cx="5124000" cy="17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Web Admin</a:t>
            </a:r>
            <a:r>
              <a:rPr b="1" lang="es" sz="1000"/>
              <a:t>:</a:t>
            </a:r>
            <a:r>
              <a:rPr lang="es" sz="1000"/>
              <a:t> Permite la gestión y administración del sistema, incluyendo el control de usuarios, roles y acceso a la información. Se pueden visualizar, modificar o eliminar datos relacionados con residentes, bomberos, viviendas y grifos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89" name="Google Shape;18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1075" y="1892000"/>
            <a:ext cx="1975325" cy="19753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612325" y="2880250"/>
            <a:ext cx="4681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usuarios (residentes y bomberos)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y control de información del sistema</a:t>
            </a:r>
            <a:endParaRPr sz="1100"/>
          </a:p>
          <a:p>
            <a:pPr indent="-2984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Administración de roles y accesos</a:t>
            </a:r>
            <a:endParaRPr b="1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1"/>
          <p:cNvSpPr txBox="1"/>
          <p:nvPr>
            <p:ph idx="4294967295" type="title"/>
          </p:nvPr>
        </p:nvSpPr>
        <p:spPr>
          <a:xfrm>
            <a:off x="1630625" y="663950"/>
            <a:ext cx="45039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 general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613450" y="1714500"/>
            <a:ext cx="3743700" cy="25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s" sz="1000"/>
              <a:t>Desarrollar una herramienta tecnológica que proporcione información de rápido acceso para emergencias, mediante dos aplicaciones interconectadas; una que permita registrar la información de un domicilio y otra en la que bomberos puedan consultar esta información durante una emergencia. Además de permitir registrar la ubicación y el estado de los grifos de agua para visualizarlos en un mapa.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197" name="Google Shape;197;p21" title="77b961105b60a398c157736bca84992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3200" y="1408250"/>
            <a:ext cx="2867525" cy="286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2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Objetivos </a:t>
            </a:r>
            <a:r>
              <a:rPr lang="es"/>
              <a:t>específicos</a:t>
            </a:r>
            <a:endParaRPr/>
          </a:p>
        </p:txBody>
      </p:sp>
      <p:sp>
        <p:nvSpPr>
          <p:cNvPr id="203" name="Google Shape;203;p22"/>
          <p:cNvSpPr txBox="1"/>
          <p:nvPr/>
        </p:nvSpPr>
        <p:spPr>
          <a:xfrm>
            <a:off x="443900" y="1752825"/>
            <a:ext cx="4762500" cy="23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Aumento de la cantidad de información obtenida de una residencia para una emergencia en un 40% en el primer trimestre.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Disminución del tiempo de recolección de información en una emergencia en un 30% </a:t>
            </a:r>
            <a:r>
              <a:rPr lang="es" sz="1000"/>
              <a:t>en el primer trimestre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Disminución del tiempo de consulta de información en una emergencia en un 30% en el primer trimestre.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Lograr registrar al menos el 60% de los grifos de una comuna en un plazo de 6 meses desde su implantación.</a:t>
            </a:r>
            <a:endParaRPr b="1" sz="1000" u="sng"/>
          </a:p>
        </p:txBody>
      </p:sp>
      <p:pic>
        <p:nvPicPr>
          <p:cNvPr id="204" name="Google Shape;204;p22" title="4117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6075" y="1463325"/>
            <a:ext cx="2907000" cy="290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3"/>
          <p:cNvSpPr/>
          <p:nvPr/>
        </p:nvSpPr>
        <p:spPr>
          <a:xfrm>
            <a:off x="4572100" y="1310525"/>
            <a:ext cx="3987300" cy="3501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3"/>
          <p:cNvSpPr/>
          <p:nvPr/>
        </p:nvSpPr>
        <p:spPr>
          <a:xfrm>
            <a:off x="584800" y="1310525"/>
            <a:ext cx="3987300" cy="3501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>
            <p:ph type="title"/>
          </p:nvPr>
        </p:nvSpPr>
        <p:spPr>
          <a:xfrm>
            <a:off x="1764325" y="487475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Alcance y limitaciones</a:t>
            </a:r>
            <a:endParaRPr/>
          </a:p>
        </p:txBody>
      </p:sp>
      <p:sp>
        <p:nvSpPr>
          <p:cNvPr id="212" name="Google Shape;212;p23"/>
          <p:cNvSpPr txBox="1"/>
          <p:nvPr/>
        </p:nvSpPr>
        <p:spPr>
          <a:xfrm>
            <a:off x="495475" y="1494300"/>
            <a:ext cx="3546900" cy="24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Registro de información  (vivienda, integrante, material peligroso y/o mascotas) y asignación de comuna por coordenadas.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Visualización de información de residencia e integrantes.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dos app móvil interconectadas.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Módulo de manejo y gestión de grifos.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web admin.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Bajo tiempo de respuesta.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Incluye servidor.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13" name="Google Shape;213;p23"/>
          <p:cNvSpPr txBox="1"/>
          <p:nvPr/>
        </p:nvSpPr>
        <p:spPr>
          <a:xfrm>
            <a:off x="4647975" y="1494300"/>
            <a:ext cx="3790800" cy="26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es para mensajería/ comunicación.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hay reporte de incendios o accidentes.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es para rutas.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Solo permite ingresar viviendas en territorio de Chile.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Los usuarios no pueden ver ni manipular información más allá de la suya como grupo familiar, ni utilizar app/vista de bombeos.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Limitación en costos debido a la funcionalidad de bomberos.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Bomberos trabaja con tablets.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Bomberos es quien gestiona y entrega acceso a la app.</a:t>
            </a:r>
            <a:endParaRPr sz="1000"/>
          </a:p>
        </p:txBody>
      </p:sp>
      <p:pic>
        <p:nvPicPr>
          <p:cNvPr id="214" name="Google Shape;214;p23" title="1030899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8675" y="4121088"/>
            <a:ext cx="587575" cy="58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3" title="632502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2225" y="3971700"/>
            <a:ext cx="744300" cy="74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4572000" y="1310525"/>
            <a:ext cx="4135200" cy="33582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/>
          <p:nvPr/>
        </p:nvSpPr>
        <p:spPr>
          <a:xfrm>
            <a:off x="436850" y="1310525"/>
            <a:ext cx="4135200" cy="33582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4"/>
          <p:cNvSpPr txBox="1"/>
          <p:nvPr>
            <p:ph idx="4294967295" type="title"/>
          </p:nvPr>
        </p:nvSpPr>
        <p:spPr>
          <a:xfrm>
            <a:off x="1911150" y="503200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sp>
        <p:nvSpPr>
          <p:cNvPr id="223" name="Google Shape;223;p24"/>
          <p:cNvSpPr/>
          <p:nvPr/>
        </p:nvSpPr>
        <p:spPr>
          <a:xfrm>
            <a:off x="436850" y="2120825"/>
            <a:ext cx="4135200" cy="12963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479750" y="1392050"/>
            <a:ext cx="3507600" cy="335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Metodología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Agil, Scrum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Ventaja: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Permite realizar entregas parciales e iterativas, facilitando la validación temprana del sistema. Además, ofrece una alta capacidad de adaptación a cambios y prioriza la entrega de valor en cada iteración.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Desventaja: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Requiere compromiso de stakeholders para participar en revisiones y retrospectivas, lo que puede generar confusión, demoras innecesarias o tiempos muertos.</a:t>
            </a:r>
            <a:endParaRPr sz="1000"/>
          </a:p>
          <a:p>
            <a:pPr indent="0" lvl="0" marL="0" rtl="0" algn="just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4"/>
          <p:cNvSpPr txBox="1"/>
          <p:nvPr/>
        </p:nvSpPr>
        <p:spPr>
          <a:xfrm>
            <a:off x="4695225" y="1454900"/>
            <a:ext cx="39246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Porqué:</a:t>
            </a:r>
            <a:endParaRPr b="1" sz="1000"/>
          </a:p>
          <a:p>
            <a:pPr indent="-292100" lvl="0" marL="45720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Permite desarrollar y entregar funcionalidades clave en fases, priorizando lo más importante (registro de viviendas, información para bomberos).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Incorpora feedback por iteración, garantizando que el sistema responda a las necesidades reales de bomberos y residentes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Minimiza riesgos y costos, asegurando un producto útil aun si el alcance debe ajustarse.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s" sz="1000"/>
              <a:t>Favorece la colaboración constante, algo crucial para un sistema que involucra varias entidades (comunidades, bomberos, desarrolladores)</a:t>
            </a:r>
            <a:r>
              <a:rPr b="1" lang="es" sz="1000"/>
              <a:t>.</a:t>
            </a:r>
            <a:endParaRPr sz="10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5"/>
          <p:cNvSpPr txBox="1"/>
          <p:nvPr>
            <p:ph idx="4294967295" type="title"/>
          </p:nvPr>
        </p:nvSpPr>
        <p:spPr>
          <a:xfrm>
            <a:off x="1911150" y="191900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Equipo/Roles</a:t>
            </a:r>
            <a:endParaRPr/>
          </a:p>
        </p:txBody>
      </p:sp>
      <p:graphicFrame>
        <p:nvGraphicFramePr>
          <p:cNvPr id="231" name="Google Shape;231;p25"/>
          <p:cNvGraphicFramePr/>
          <p:nvPr/>
        </p:nvGraphicFramePr>
        <p:xfrm>
          <a:off x="570450" y="815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{2FE82B3F-215E-4684-AAA0-842BA3B2CA3A}</a:tableStyleId>
              </a:tblPr>
              <a:tblGrid>
                <a:gridCol w="2514400"/>
                <a:gridCol w="1663000"/>
                <a:gridCol w="3854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Integrante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Rol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Función 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Kevin Fierro Cantero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Scrum Master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Gestiona el proceso Scrum, organiza sprints y desarrolla el sistema.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José Montenegro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Equipo Dev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Implementa funcionalidades, participa en estimaciones y desarrollo.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Katherine Cespedes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Equipo Dev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Implementa funcionalidades, participa en estimaciones y desarrollo.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Profesores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Product Owner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Define requerimientos, prioriza backlog y valida funcionalidades.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Profesores + Voluntarios de Bomberos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Stakeholders 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Evalúan el proyecto, entregan feedback y validación académica/estratégica.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Junta Nacional de Cuerpos de Bomberos de Chile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Sponsor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Financia y respalda el proyecto.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Voluntarios de Bomberos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End Users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Usan la aplicación en contexto operativo.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Ciudadanos / residentes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End Users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Usan la aplicación para registrar información.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/>
          <p:nvPr/>
        </p:nvSpPr>
        <p:spPr>
          <a:xfrm>
            <a:off x="6184350" y="1911875"/>
            <a:ext cx="2371800" cy="252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6"/>
          <p:cNvSpPr/>
          <p:nvPr/>
        </p:nvSpPr>
        <p:spPr>
          <a:xfrm>
            <a:off x="3386100" y="1911875"/>
            <a:ext cx="2371800" cy="252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6"/>
          <p:cNvSpPr/>
          <p:nvPr/>
        </p:nvSpPr>
        <p:spPr>
          <a:xfrm>
            <a:off x="489375" y="1911875"/>
            <a:ext cx="2371800" cy="252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6"/>
          <p:cNvSpPr txBox="1"/>
          <p:nvPr>
            <p:ph type="title"/>
          </p:nvPr>
        </p:nvSpPr>
        <p:spPr>
          <a:xfrm>
            <a:off x="1650950" y="4807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Desarrollo</a:t>
            </a:r>
            <a:endParaRPr/>
          </a:p>
        </p:txBody>
      </p:sp>
      <p:pic>
        <p:nvPicPr>
          <p:cNvPr id="240" name="Google Shape;240;p26"/>
          <p:cNvPicPr preferRelativeResize="0"/>
          <p:nvPr/>
        </p:nvPicPr>
        <p:blipFill rotWithShape="1">
          <a:blip r:embed="rId3">
            <a:alphaModFix/>
          </a:blip>
          <a:srcRect b="35831" l="0" r="0" t="37508"/>
          <a:stretch/>
        </p:blipFill>
        <p:spPr>
          <a:xfrm>
            <a:off x="6531225" y="2226138"/>
            <a:ext cx="1678013" cy="44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6"/>
          <p:cNvPicPr preferRelativeResize="0"/>
          <p:nvPr/>
        </p:nvPicPr>
        <p:blipFill rotWithShape="1">
          <a:blip r:embed="rId4">
            <a:alphaModFix/>
          </a:blip>
          <a:srcRect b="37101" l="11364" r="8495" t="37096"/>
          <a:stretch/>
        </p:blipFill>
        <p:spPr>
          <a:xfrm>
            <a:off x="980303" y="2226150"/>
            <a:ext cx="1389647" cy="447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6"/>
          <p:cNvPicPr preferRelativeResize="0"/>
          <p:nvPr/>
        </p:nvPicPr>
        <p:blipFill rotWithShape="1">
          <a:blip r:embed="rId5">
            <a:alphaModFix/>
          </a:blip>
          <a:srcRect b="7002" l="3030" r="2568" t="7506"/>
          <a:stretch/>
        </p:blipFill>
        <p:spPr>
          <a:xfrm>
            <a:off x="729498" y="2933963"/>
            <a:ext cx="1891275" cy="6851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85225" y="2933977"/>
            <a:ext cx="1480424" cy="378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6"/>
          <p:cNvPicPr preferRelativeResize="0"/>
          <p:nvPr/>
        </p:nvPicPr>
        <p:blipFill rotWithShape="1">
          <a:blip r:embed="rId7">
            <a:alphaModFix/>
          </a:blip>
          <a:srcRect b="29618" l="0" r="0" t="27791"/>
          <a:stretch/>
        </p:blipFill>
        <p:spPr>
          <a:xfrm>
            <a:off x="3930612" y="3572713"/>
            <a:ext cx="1389650" cy="591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6" title="Python-logo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854185" y="2226149"/>
            <a:ext cx="1542513" cy="447392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6"/>
          <p:cNvSpPr txBox="1"/>
          <p:nvPr>
            <p:ph type="title"/>
          </p:nvPr>
        </p:nvSpPr>
        <p:spPr>
          <a:xfrm>
            <a:off x="489225" y="1464575"/>
            <a:ext cx="2371800" cy="4473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880"/>
              <a:t>Front </a:t>
            </a:r>
            <a:endParaRPr sz="1880"/>
          </a:p>
        </p:txBody>
      </p:sp>
      <p:sp>
        <p:nvSpPr>
          <p:cNvPr id="247" name="Google Shape;247;p26"/>
          <p:cNvSpPr txBox="1"/>
          <p:nvPr>
            <p:ph type="title"/>
          </p:nvPr>
        </p:nvSpPr>
        <p:spPr>
          <a:xfrm>
            <a:off x="6184338" y="1464575"/>
            <a:ext cx="2371800" cy="4473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880"/>
              <a:t>Base de datos</a:t>
            </a:r>
            <a:endParaRPr sz="1880"/>
          </a:p>
        </p:txBody>
      </p:sp>
      <p:sp>
        <p:nvSpPr>
          <p:cNvPr id="248" name="Google Shape;248;p26"/>
          <p:cNvSpPr txBox="1"/>
          <p:nvPr>
            <p:ph type="title"/>
          </p:nvPr>
        </p:nvSpPr>
        <p:spPr>
          <a:xfrm>
            <a:off x="3386100" y="1464575"/>
            <a:ext cx="2371800" cy="4473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880"/>
              <a:t>Api/Servidor</a:t>
            </a:r>
            <a:endParaRPr sz="1880"/>
          </a:p>
        </p:txBody>
      </p:sp>
      <p:pic>
        <p:nvPicPr>
          <p:cNvPr id="249" name="Google Shape;249;p2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23217" y="2846425"/>
            <a:ext cx="1318075" cy="1318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7"/>
          <p:cNvSpPr/>
          <p:nvPr/>
        </p:nvSpPr>
        <p:spPr>
          <a:xfrm>
            <a:off x="814038" y="2206225"/>
            <a:ext cx="2493000" cy="1774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7"/>
          <p:cNvSpPr txBox="1"/>
          <p:nvPr>
            <p:ph type="title"/>
          </p:nvPr>
        </p:nvSpPr>
        <p:spPr>
          <a:xfrm>
            <a:off x="632400" y="5230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Tecnologías</a:t>
            </a:r>
            <a:endParaRPr/>
          </a:p>
        </p:txBody>
      </p:sp>
      <p:sp>
        <p:nvSpPr>
          <p:cNvPr id="256" name="Google Shape;256;p27"/>
          <p:cNvSpPr txBox="1"/>
          <p:nvPr/>
        </p:nvSpPr>
        <p:spPr>
          <a:xfrm>
            <a:off x="986988" y="2355600"/>
            <a:ext cx="2147100" cy="14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Dart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Python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PostgreSQL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GIT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27" title="0_epnKnkKuLx2RAaj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4788" y="3117377"/>
            <a:ext cx="1881499" cy="863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7" title="Python-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22913" y="2005975"/>
            <a:ext cx="2007040" cy="582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7" title="1_MJorFEcywZWHfcb3mkgIQ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04775" y="1842325"/>
            <a:ext cx="1620376" cy="90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47038" y="2869800"/>
            <a:ext cx="1358800" cy="135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8"/>
          <p:cNvSpPr/>
          <p:nvPr/>
        </p:nvSpPr>
        <p:spPr>
          <a:xfrm>
            <a:off x="629175" y="1903250"/>
            <a:ext cx="2493000" cy="2542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8"/>
          <p:cNvSpPr txBox="1"/>
          <p:nvPr>
            <p:ph type="title"/>
          </p:nvPr>
        </p:nvSpPr>
        <p:spPr>
          <a:xfrm>
            <a:off x="629175" y="530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Herramientas</a:t>
            </a:r>
            <a:endParaRPr/>
          </a:p>
        </p:txBody>
      </p:sp>
      <p:sp>
        <p:nvSpPr>
          <p:cNvPr id="267" name="Google Shape;267;p28"/>
          <p:cNvSpPr txBox="1"/>
          <p:nvPr/>
        </p:nvSpPr>
        <p:spPr>
          <a:xfrm>
            <a:off x="802125" y="2052625"/>
            <a:ext cx="2147100" cy="14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Flutter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Flask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Shapely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SupaBase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PostGIS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Google Maps P.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>
                <a:solidFill>
                  <a:schemeClr val="dk1"/>
                </a:solidFill>
              </a:rPr>
              <a:t>GitKraken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79700" y="2779900"/>
            <a:ext cx="1732323" cy="44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8"/>
          <p:cNvPicPr preferRelativeResize="0"/>
          <p:nvPr/>
        </p:nvPicPr>
        <p:blipFill rotWithShape="1">
          <a:blip r:embed="rId4">
            <a:alphaModFix/>
          </a:blip>
          <a:srcRect b="35831" l="0" r="0" t="37508"/>
          <a:stretch/>
        </p:blipFill>
        <p:spPr>
          <a:xfrm>
            <a:off x="5270277" y="1903250"/>
            <a:ext cx="1831998" cy="48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02555" y="1873450"/>
            <a:ext cx="1318075" cy="131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8"/>
          <p:cNvPicPr preferRelativeResize="0"/>
          <p:nvPr/>
        </p:nvPicPr>
        <p:blipFill rotWithShape="1">
          <a:blip r:embed="rId6">
            <a:alphaModFix/>
          </a:blip>
          <a:srcRect b="7002" l="3030" r="2568" t="7506"/>
          <a:stretch/>
        </p:blipFill>
        <p:spPr>
          <a:xfrm>
            <a:off x="3771400" y="3473625"/>
            <a:ext cx="2493000" cy="90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08057" y="3379375"/>
            <a:ext cx="1318067" cy="8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8"/>
          <p:cNvPicPr preferRelativeResize="0"/>
          <p:nvPr/>
        </p:nvPicPr>
        <p:blipFill rotWithShape="1">
          <a:blip r:embed="rId8">
            <a:alphaModFix/>
          </a:blip>
          <a:srcRect b="29618" l="0" r="0" t="27791"/>
          <a:stretch/>
        </p:blipFill>
        <p:spPr>
          <a:xfrm>
            <a:off x="3448525" y="2711002"/>
            <a:ext cx="1569275" cy="66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8"/>
          <p:cNvPicPr preferRelativeResize="0"/>
          <p:nvPr/>
        </p:nvPicPr>
        <p:blipFill rotWithShape="1">
          <a:blip r:embed="rId9">
            <a:alphaModFix/>
          </a:blip>
          <a:srcRect b="37101" l="11364" r="8495" t="37096"/>
          <a:stretch/>
        </p:blipFill>
        <p:spPr>
          <a:xfrm>
            <a:off x="3500650" y="1903250"/>
            <a:ext cx="1517150" cy="488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9"/>
          <p:cNvSpPr txBox="1"/>
          <p:nvPr>
            <p:ph type="title"/>
          </p:nvPr>
        </p:nvSpPr>
        <p:spPr>
          <a:xfrm>
            <a:off x="2673150" y="445500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Organización temporal</a:t>
            </a:r>
            <a:endParaRPr/>
          </a:p>
        </p:txBody>
      </p:sp>
      <p:pic>
        <p:nvPicPr>
          <p:cNvPr id="280" name="Google Shape;28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0613" y="2962650"/>
            <a:ext cx="5605625" cy="10819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81" name="Google Shape;281;p29"/>
          <p:cNvGraphicFramePr/>
          <p:nvPr/>
        </p:nvGraphicFramePr>
        <p:xfrm>
          <a:off x="1650550" y="14673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{F0FC12AD-ED36-471A-8AC6-4B1F6A9D75AF}</a:tableStyleId>
              </a:tblPr>
              <a:tblGrid>
                <a:gridCol w="537200"/>
                <a:gridCol w="3928750"/>
                <a:gridCol w="1139825"/>
              </a:tblGrid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ID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Épica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Priorización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01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Gestión de residentes, viviendas y mascotas (App Usuarios)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02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Consulta y visualización de emergencias (App Bomberos)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04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Administración y gestión general  (Web Admin)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03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Módulo de grifos (App Bomberos)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Should Have</a:t>
                      </a:r>
                      <a:endParaRPr sz="1000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0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1</a:t>
            </a:r>
            <a:endParaRPr/>
          </a:p>
        </p:txBody>
      </p:sp>
      <p:pic>
        <p:nvPicPr>
          <p:cNvPr id="287" name="Google Shape;287;p30" title="Captura de pantalla 2026-04-12 223643.png"/>
          <p:cNvPicPr preferRelativeResize="0"/>
          <p:nvPr/>
        </p:nvPicPr>
        <p:blipFill rotWithShape="1">
          <a:blip r:embed="rId3">
            <a:alphaModFix/>
          </a:blip>
          <a:srcRect b="16507" l="0" r="0" t="0"/>
          <a:stretch/>
        </p:blipFill>
        <p:spPr>
          <a:xfrm>
            <a:off x="622575" y="2993725"/>
            <a:ext cx="4341100" cy="148877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0"/>
          <p:cNvSpPr txBox="1"/>
          <p:nvPr/>
        </p:nvSpPr>
        <p:spPr>
          <a:xfrm>
            <a:off x="622575" y="1082450"/>
            <a:ext cx="3473700" cy="23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S1: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FASE 0: </a:t>
            </a:r>
            <a:r>
              <a:rPr b="1" lang="es" sz="1100"/>
              <a:t>Infraestructura y arquitectura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Configuración del sistema: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Arquitectura, base de datos, API, autenticación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Integración con mapas y geolocalización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b="1" lang="es" sz="1000"/>
            </a:br>
            <a:endParaRPr b="1" sz="1000"/>
          </a:p>
        </p:txBody>
      </p:sp>
      <p:sp>
        <p:nvSpPr>
          <p:cNvPr id="289" name="Google Shape;289;p30"/>
          <p:cNvSpPr txBox="1"/>
          <p:nvPr/>
        </p:nvSpPr>
        <p:spPr>
          <a:xfrm>
            <a:off x="5101050" y="1443275"/>
            <a:ext cx="3587100" cy="33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1: </a:t>
            </a:r>
            <a:r>
              <a:rPr b="1" lang="es" sz="1000"/>
              <a:t>App Usuarios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usuario residente: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Registro e inicio de sesión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vivienda: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Registro con mapa y coordenadas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Asignación automática de comuna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Edición y eliminación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Información crítica: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Materiales peligrosos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Integrantes del hogar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Mascotas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Vista completa de la vivienda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Alertas de riesgo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1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2</a:t>
            </a:r>
            <a:endParaRPr/>
          </a:p>
        </p:txBody>
      </p:sp>
      <p:sp>
        <p:nvSpPr>
          <p:cNvPr id="295" name="Google Shape;295;p31"/>
          <p:cNvSpPr txBox="1"/>
          <p:nvPr/>
        </p:nvSpPr>
        <p:spPr>
          <a:xfrm>
            <a:off x="587225" y="1001100"/>
            <a:ext cx="3947700" cy="22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S1: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EPICA 2: App Bomberos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Funcionalidades bomberos: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Configurar comuna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Buscar viviendas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Ver información completa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Mapa y análisis: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Ubicación de viviendas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Centros de riesgo cercanos</a:t>
            </a:r>
            <a:endParaRPr b="1" sz="1000"/>
          </a:p>
        </p:txBody>
      </p:sp>
      <p:sp>
        <p:nvSpPr>
          <p:cNvPr id="296" name="Google Shape;296;p31"/>
          <p:cNvSpPr txBox="1"/>
          <p:nvPr/>
        </p:nvSpPr>
        <p:spPr>
          <a:xfrm>
            <a:off x="4973700" y="1392300"/>
            <a:ext cx="3855900" cy="34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EPICA 3: </a:t>
            </a:r>
            <a:r>
              <a:rPr b="1" lang="es" sz="1000"/>
              <a:t>Módulo de grifos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Módulo de grifos: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CRUD de grifos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Visualización en mapa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Grifos más cercanos (Top 3)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Filtros: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Por comuna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Por estado</a:t>
            </a:r>
            <a:endParaRPr sz="1100"/>
          </a:p>
          <a:p>
            <a:pPr indent="-317500" lvl="1" marL="9144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s" sz="1100"/>
              <a:t>Combinados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EPICA 4: Web Admin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Administración: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Gestión de usuarios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Visualización del sistema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Gestión de roles</a:t>
            </a:r>
            <a:endParaRPr b="1" sz="1000"/>
          </a:p>
        </p:txBody>
      </p:sp>
      <p:pic>
        <p:nvPicPr>
          <p:cNvPr id="297" name="Google Shape;29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7225" y="3241800"/>
            <a:ext cx="4216675" cy="159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2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Sprints</a:t>
            </a:r>
            <a:endParaRPr/>
          </a:p>
        </p:txBody>
      </p:sp>
      <p:pic>
        <p:nvPicPr>
          <p:cNvPr id="303" name="Google Shape;303;p32" title="Captura de pantalla 2026-04-12 223643.png"/>
          <p:cNvPicPr preferRelativeResize="0"/>
          <p:nvPr/>
        </p:nvPicPr>
        <p:blipFill rotWithShape="1">
          <a:blip r:embed="rId3">
            <a:alphaModFix/>
          </a:blip>
          <a:srcRect b="16507" l="0" r="0" t="0"/>
          <a:stretch/>
        </p:blipFill>
        <p:spPr>
          <a:xfrm>
            <a:off x="370825" y="1140475"/>
            <a:ext cx="5082725" cy="17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0825" y="2846550"/>
            <a:ext cx="5082725" cy="19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5950" y="1292875"/>
            <a:ext cx="3143250" cy="280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3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COMENTARIO FINAL</a:t>
            </a:r>
            <a:endParaRPr/>
          </a:p>
        </p:txBody>
      </p:sp>
      <p:pic>
        <p:nvPicPr>
          <p:cNvPr id="311" name="Google Shape;311;p33" title="1825202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76350" y="1948775"/>
            <a:ext cx="2103625" cy="210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